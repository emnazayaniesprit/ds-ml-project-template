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6"/>
  </p:notesMasterIdLst>
  <p:sldIdLst>
    <p:sldId id="256" r:id="rId2"/>
    <p:sldId id="257" r:id="rId3"/>
    <p:sldId id="258" r:id="rId4"/>
    <p:sldId id="260" r:id="rId5"/>
    <p:sldId id="259" r:id="rId6"/>
    <p:sldId id="267" r:id="rId7"/>
    <p:sldId id="268" r:id="rId8"/>
    <p:sldId id="269" r:id="rId9"/>
    <p:sldId id="273" r:id="rId10"/>
    <p:sldId id="271" r:id="rId11"/>
    <p:sldId id="270" r:id="rId12"/>
    <p:sldId id="263" r:id="rId13"/>
    <p:sldId id="264" r:id="rId14"/>
    <p:sldId id="266" r:id="rId15"/>
  </p:sldIdLst>
  <p:sldSz cx="18288000" cy="10287000"/>
  <p:notesSz cx="6858000" cy="9144000"/>
  <p:embeddedFontLst>
    <p:embeddedFont>
      <p:font typeface="Montserrat" pitchFamily="2" charset="77"/>
      <p:regular r:id="rId17"/>
      <p:bold r:id="rId18"/>
      <p:italic r:id="rId19"/>
      <p:boldItalic r:id="rId20"/>
    </p:embeddedFont>
    <p:embeddedFont>
      <p:font typeface="Montserrat Bold"/>
      <p:regular r:id="rId21"/>
      <p:bold r:id="rId22"/>
    </p:embeddedFont>
    <p:embeddedFont>
      <p:font typeface="Montserrat Medium" panose="00000600000000000000"/>
      <p:regular r:id="rId23"/>
    </p:embeddedFont>
    <p:embeddedFont>
      <p:font typeface="Montserrat Semi-Bold"/>
      <p:regular r:id="rId24"/>
      <p:bold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14330"/>
    <a:srgbClr val="F5E5E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232" autoAdjust="0"/>
    <p:restoredTop sz="94683" autoAdjust="0"/>
  </p:normalViewPr>
  <p:slideViewPr>
    <p:cSldViewPr>
      <p:cViewPr varScale="1">
        <p:scale>
          <a:sx n="89" d="100"/>
          <a:sy n="89" d="100"/>
        </p:scale>
        <p:origin x="1224" y="4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A4C630-78AB-A64F-9D51-4F1EE13A4406}" type="datetimeFigureOut">
              <a:rPr lang="en-US" smtClean="0"/>
              <a:t>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5C2D7-9E94-2045-8E24-80DD133EE3A9}" type="slidenum">
              <a:rPr lang="en-US" smtClean="0"/>
              <a:t>‹#›</a:t>
            </a:fld>
            <a:endParaRPr lang="en-US"/>
          </a:p>
        </p:txBody>
      </p:sp>
    </p:spTree>
    <p:extLst>
      <p:ext uri="{BB962C8B-B14F-4D97-AF65-F5344CB8AC3E}">
        <p14:creationId xmlns:p14="http://schemas.microsoft.com/office/powerpoint/2010/main" val="24326874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765C2D7-9E94-2045-8E24-80DD133EE3A9}" type="slidenum">
              <a:rPr lang="en-US" smtClean="0"/>
              <a:t>1</a:t>
            </a:fld>
            <a:endParaRPr lang="en-US"/>
          </a:p>
        </p:txBody>
      </p:sp>
    </p:spTree>
    <p:extLst>
      <p:ext uri="{BB962C8B-B14F-4D97-AF65-F5344CB8AC3E}">
        <p14:creationId xmlns:p14="http://schemas.microsoft.com/office/powerpoint/2010/main" val="23914232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Projects that needs less funding have high chances of success </a:t>
            </a:r>
          </a:p>
          <a:p>
            <a:r>
              <a:rPr lang="en-US" dirty="0"/>
              <a:t>Music seems to do well? I was have said food because I like food.</a:t>
            </a:r>
          </a:p>
        </p:txBody>
      </p:sp>
      <p:sp>
        <p:nvSpPr>
          <p:cNvPr id="4" name="Slide Number Placeholder 3"/>
          <p:cNvSpPr>
            <a:spLocks noGrp="1"/>
          </p:cNvSpPr>
          <p:nvPr>
            <p:ph type="sldNum" sz="quarter" idx="5"/>
          </p:nvPr>
        </p:nvSpPr>
        <p:spPr/>
        <p:txBody>
          <a:bodyPr/>
          <a:lstStyle/>
          <a:p>
            <a:fld id="{5765C2D7-9E94-2045-8E24-80DD133EE3A9}" type="slidenum">
              <a:rPr lang="en-US" smtClean="0"/>
              <a:t>6</a:t>
            </a:fld>
            <a:endParaRPr lang="en-US"/>
          </a:p>
        </p:txBody>
      </p:sp>
    </p:spTree>
    <p:extLst>
      <p:ext uri="{BB962C8B-B14F-4D97-AF65-F5344CB8AC3E}">
        <p14:creationId xmlns:p14="http://schemas.microsoft.com/office/powerpoint/2010/main" val="30824154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These communities are passionate, tightly connected, and extremely supportive.</a:t>
            </a:r>
          </a:p>
          <a:p>
            <a:endParaRPr lang="en-US" dirty="0"/>
          </a:p>
        </p:txBody>
      </p:sp>
      <p:sp>
        <p:nvSpPr>
          <p:cNvPr id="4" name="Slide Number Placeholder 3"/>
          <p:cNvSpPr>
            <a:spLocks noGrp="1"/>
          </p:cNvSpPr>
          <p:nvPr>
            <p:ph type="sldNum" sz="quarter" idx="5"/>
          </p:nvPr>
        </p:nvSpPr>
        <p:spPr/>
        <p:txBody>
          <a:bodyPr/>
          <a:lstStyle/>
          <a:p>
            <a:fld id="{5765C2D7-9E94-2045-8E24-80DD133EE3A9}" type="slidenum">
              <a:rPr lang="en-US" smtClean="0"/>
              <a:t>7</a:t>
            </a:fld>
            <a:endParaRPr lang="en-US"/>
          </a:p>
        </p:txBody>
      </p:sp>
    </p:spTree>
    <p:extLst>
      <p:ext uri="{BB962C8B-B14F-4D97-AF65-F5344CB8AC3E}">
        <p14:creationId xmlns:p14="http://schemas.microsoft.com/office/powerpoint/2010/main" val="5298162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General view: Projects launched in the U.S. and the U.K. are almost twice as likely to succeed as projects launched in Italy.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If the project category  are some like, dance, theater, something the community are passionate, connected with and can support </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5765C2D7-9E94-2045-8E24-80DD133EE3A9}" type="slidenum">
              <a:rPr lang="en-US" smtClean="0"/>
              <a:t>8</a:t>
            </a:fld>
            <a:endParaRPr lang="en-US"/>
          </a:p>
        </p:txBody>
      </p:sp>
    </p:spTree>
    <p:extLst>
      <p:ext uri="{BB962C8B-B14F-4D97-AF65-F5344CB8AC3E}">
        <p14:creationId xmlns:p14="http://schemas.microsoft.com/office/powerpoint/2010/main" val="20751234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765C2D7-9E94-2045-8E24-80DD133EE3A9}" type="slidenum">
              <a:rPr lang="en-US" smtClean="0"/>
              <a:t>9</a:t>
            </a:fld>
            <a:endParaRPr lang="en-US"/>
          </a:p>
        </p:txBody>
      </p:sp>
    </p:spTree>
    <p:extLst>
      <p:ext uri="{BB962C8B-B14F-4D97-AF65-F5344CB8AC3E}">
        <p14:creationId xmlns:p14="http://schemas.microsoft.com/office/powerpoint/2010/main" val="1903010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more you have high numbers of people that </a:t>
            </a:r>
            <a:r>
              <a:rPr lang="en-US" b="1" dirty="0"/>
              <a:t>pledge </a:t>
            </a:r>
            <a:r>
              <a:rPr lang="en-US" b="0" dirty="0"/>
              <a:t>(money) the higher chance the project happens, if the goal of the project is reached only then is money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Backers, the </a:t>
            </a:r>
            <a:r>
              <a:rPr lang="en-US" sz="1200" b="0" kern="1200" dirty="0">
                <a:solidFill>
                  <a:schemeClr val="tx1"/>
                </a:solidFill>
                <a:effectLst/>
                <a:latin typeface="+mn-lt"/>
                <a:ea typeface="+mn-ea"/>
                <a:cs typeface="+mn-cs"/>
              </a:rPr>
              <a:t>number of supporters aka backers are people give towards the project, more like friends and family and people who genuinely believe the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Funded_ratio": "Funding Achieved (%), which  goal / pledge</a:t>
            </a:r>
            <a:endParaRPr lang="en-US" b="0" dirty="0"/>
          </a:p>
          <a:p>
            <a:r>
              <a:rPr lang="en-US" sz="1200" b="0" kern="1200" dirty="0">
                <a:solidFill>
                  <a:schemeClr val="tx1"/>
                </a:solidFill>
                <a:effectLst/>
                <a:latin typeface="+mn-lt"/>
                <a:ea typeface="+mn-ea"/>
                <a:cs typeface="+mn-cs"/>
              </a:rPr>
              <a:t>goal: Amount Requested  if you request for a fund that its attainable </a:t>
            </a:r>
          </a:p>
          <a:p>
            <a:endParaRPr lang="en-US" b="0" dirty="0"/>
          </a:p>
        </p:txBody>
      </p:sp>
      <p:sp>
        <p:nvSpPr>
          <p:cNvPr id="4" name="Slide Number Placeholder 3"/>
          <p:cNvSpPr>
            <a:spLocks noGrp="1"/>
          </p:cNvSpPr>
          <p:nvPr>
            <p:ph type="sldNum" sz="quarter" idx="5"/>
          </p:nvPr>
        </p:nvSpPr>
        <p:spPr/>
        <p:txBody>
          <a:bodyPr/>
          <a:lstStyle/>
          <a:p>
            <a:fld id="{5765C2D7-9E94-2045-8E24-80DD133EE3A9}" type="slidenum">
              <a:rPr lang="en-US" smtClean="0"/>
              <a:t>10</a:t>
            </a:fld>
            <a:endParaRPr lang="en-US"/>
          </a:p>
        </p:txBody>
      </p:sp>
    </p:spTree>
    <p:extLst>
      <p:ext uri="{BB962C8B-B14F-4D97-AF65-F5344CB8AC3E}">
        <p14:creationId xmlns:p14="http://schemas.microsoft.com/office/powerpoint/2010/main" val="34097281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765C2D7-9E94-2045-8E24-80DD133EE3A9}" type="slidenum">
              <a:rPr lang="en-US" smtClean="0"/>
              <a:t>12</a:t>
            </a:fld>
            <a:endParaRPr lang="en-US"/>
          </a:p>
        </p:txBody>
      </p:sp>
    </p:spTree>
    <p:extLst>
      <p:ext uri="{BB962C8B-B14F-4D97-AF65-F5344CB8AC3E}">
        <p14:creationId xmlns:p14="http://schemas.microsoft.com/office/powerpoint/2010/main" val="14863174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jpeg"/></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jpeg"/><Relationship Id="rId4" Type="http://schemas.openxmlformats.org/officeDocument/2006/relationships/image" Target="../media/image10.jpeg"/></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9.svg"/></Relationships>
</file>

<file path=ppt/slides/_rels/slide1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2" name="Freeform 2"/>
          <p:cNvSpPr/>
          <p:nvPr/>
        </p:nvSpPr>
        <p:spPr>
          <a:xfrm flipV="1">
            <a:off x="7012622" y="-571500"/>
            <a:ext cx="8389173" cy="11064856"/>
          </a:xfrm>
          <a:custGeom>
            <a:avLst/>
            <a:gdLst/>
            <a:ahLst/>
            <a:cxnLst/>
            <a:rect l="l" t="t" r="r" b="b"/>
            <a:pathLst>
              <a:path w="8389173" h="11064856">
                <a:moveTo>
                  <a:pt x="0" y="11064856"/>
                </a:moveTo>
                <a:lnTo>
                  <a:pt x="8389173" y="11064856"/>
                </a:lnTo>
                <a:lnTo>
                  <a:pt x="8389173" y="0"/>
                </a:lnTo>
                <a:lnTo>
                  <a:pt x="0" y="0"/>
                </a:lnTo>
                <a:lnTo>
                  <a:pt x="0" y="11064856"/>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 name="Freeform 3"/>
          <p:cNvSpPr/>
          <p:nvPr/>
        </p:nvSpPr>
        <p:spPr>
          <a:xfrm>
            <a:off x="11979812" y="-388928"/>
            <a:ext cx="8389173" cy="11064856"/>
          </a:xfrm>
          <a:custGeom>
            <a:avLst/>
            <a:gdLst/>
            <a:ahLst/>
            <a:cxnLst/>
            <a:rect l="l" t="t" r="r" b="b"/>
            <a:pathLst>
              <a:path w="8389173" h="11064856">
                <a:moveTo>
                  <a:pt x="0" y="0"/>
                </a:moveTo>
                <a:lnTo>
                  <a:pt x="8389173" y="0"/>
                </a:lnTo>
                <a:lnTo>
                  <a:pt x="8389173" y="11064856"/>
                </a:lnTo>
                <a:lnTo>
                  <a:pt x="0" y="11064856"/>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dirty="0"/>
          </a:p>
        </p:txBody>
      </p:sp>
      <p:sp>
        <p:nvSpPr>
          <p:cNvPr id="5" name="TextBox 5"/>
          <p:cNvSpPr txBox="1"/>
          <p:nvPr/>
        </p:nvSpPr>
        <p:spPr>
          <a:xfrm>
            <a:off x="1028700" y="2799485"/>
            <a:ext cx="9449435" cy="1955087"/>
          </a:xfrm>
          <a:prstGeom prst="rect">
            <a:avLst/>
          </a:prstGeom>
        </p:spPr>
        <p:txBody>
          <a:bodyPr lIns="0" tIns="0" rIns="0" bIns="0" rtlCol="0" anchor="t">
            <a:spAutoFit/>
          </a:bodyPr>
          <a:lstStyle/>
          <a:p>
            <a:pPr algn="l">
              <a:lnSpc>
                <a:spcPts val="17033"/>
              </a:lnSpc>
              <a:spcBef>
                <a:spcPct val="0"/>
              </a:spcBef>
            </a:pPr>
            <a:r>
              <a:rPr lang="en-US" sz="10100" b="1" dirty="0">
                <a:solidFill>
                  <a:srgbClr val="F5E5E1"/>
                </a:solidFill>
                <a:latin typeface="Montserrat Bold"/>
                <a:ea typeface="Montserrat Bold"/>
                <a:cs typeface="Montserrat Bold"/>
                <a:sym typeface="Montserrat Bold"/>
              </a:rPr>
              <a:t>Kickstarter</a:t>
            </a:r>
          </a:p>
        </p:txBody>
      </p:sp>
      <p:sp>
        <p:nvSpPr>
          <p:cNvPr id="6" name="TextBox 6"/>
          <p:cNvSpPr txBox="1"/>
          <p:nvPr/>
        </p:nvSpPr>
        <p:spPr>
          <a:xfrm>
            <a:off x="1028700" y="4186539"/>
            <a:ext cx="10248900" cy="1913922"/>
          </a:xfrm>
          <a:prstGeom prst="rect">
            <a:avLst/>
          </a:prstGeom>
        </p:spPr>
        <p:txBody>
          <a:bodyPr wrap="square" lIns="0" tIns="0" rIns="0" bIns="0" rtlCol="0" anchor="t">
            <a:spAutoFit/>
          </a:bodyPr>
          <a:lstStyle/>
          <a:p>
            <a:pPr algn="l">
              <a:lnSpc>
                <a:spcPts val="17033"/>
              </a:lnSpc>
              <a:spcBef>
                <a:spcPct val="0"/>
              </a:spcBef>
            </a:pPr>
            <a:r>
              <a:rPr lang="en-US" sz="8800" b="1" dirty="0">
                <a:solidFill>
                  <a:srgbClr val="F5E5E1"/>
                </a:solidFill>
                <a:latin typeface="Montserrat Bold"/>
                <a:ea typeface="Montserrat Bold"/>
                <a:cs typeface="Montserrat Bold"/>
                <a:sym typeface="Montserrat Bold"/>
              </a:rPr>
              <a:t>Project Analysis</a:t>
            </a:r>
          </a:p>
        </p:txBody>
      </p:sp>
      <p:sp>
        <p:nvSpPr>
          <p:cNvPr id="8" name="TextBox 8"/>
          <p:cNvSpPr txBox="1"/>
          <p:nvPr/>
        </p:nvSpPr>
        <p:spPr>
          <a:xfrm>
            <a:off x="12349536" y="981075"/>
            <a:ext cx="4909764" cy="389255"/>
          </a:xfrm>
          <a:prstGeom prst="rect">
            <a:avLst/>
          </a:prstGeom>
        </p:spPr>
        <p:txBody>
          <a:bodyPr lIns="0" tIns="0" rIns="0" bIns="0" rtlCol="0" anchor="t">
            <a:spAutoFit/>
          </a:bodyPr>
          <a:lstStyle/>
          <a:p>
            <a:pPr algn="r">
              <a:lnSpc>
                <a:spcPts val="3220"/>
              </a:lnSpc>
              <a:spcBef>
                <a:spcPct val="0"/>
              </a:spcBef>
            </a:pPr>
            <a:r>
              <a:rPr lang="en-US" sz="2300" dirty="0">
                <a:solidFill>
                  <a:srgbClr val="F5E5E1"/>
                </a:solidFill>
                <a:latin typeface="Montserrat"/>
                <a:ea typeface="Montserrat"/>
                <a:cs typeface="Montserrat"/>
                <a:sym typeface="Montserrat"/>
              </a:rPr>
              <a:t>Presented By :</a:t>
            </a:r>
          </a:p>
        </p:txBody>
      </p:sp>
      <p:sp>
        <p:nvSpPr>
          <p:cNvPr id="9" name="TextBox 9"/>
          <p:cNvSpPr txBox="1"/>
          <p:nvPr/>
        </p:nvSpPr>
        <p:spPr>
          <a:xfrm>
            <a:off x="12349536" y="1472345"/>
            <a:ext cx="4909764" cy="1425647"/>
          </a:xfrm>
          <a:prstGeom prst="rect">
            <a:avLst/>
          </a:prstGeom>
        </p:spPr>
        <p:txBody>
          <a:bodyPr lIns="0" tIns="0" rIns="0" bIns="0" rtlCol="0" anchor="t">
            <a:spAutoFit/>
          </a:bodyPr>
          <a:lstStyle/>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Emna Zayani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Timothy Ajayi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Viktor Yudin</a:t>
            </a:r>
          </a:p>
        </p:txBody>
      </p:sp>
      <p:sp>
        <p:nvSpPr>
          <p:cNvPr id="11" name="TextBox 11"/>
          <p:cNvSpPr txBox="1"/>
          <p:nvPr/>
        </p:nvSpPr>
        <p:spPr>
          <a:xfrm>
            <a:off x="838103" y="7920372"/>
            <a:ext cx="15087432" cy="410369"/>
          </a:xfrm>
          <a:prstGeom prst="rect">
            <a:avLst/>
          </a:prstGeom>
        </p:spPr>
        <p:txBody>
          <a:bodyPr wrap="square" lIns="0" tIns="0" rIns="0" bIns="0" rtlCol="0" anchor="t">
            <a:spAutoFit/>
          </a:bodyPr>
          <a:lstStyle/>
          <a:p>
            <a:pPr>
              <a:lnSpc>
                <a:spcPts val="3220"/>
              </a:lnSpc>
              <a:spcBef>
                <a:spcPct val="0"/>
              </a:spcBef>
            </a:pPr>
            <a:r>
              <a:rPr lang="en-US" sz="2800" b="1" dirty="0">
                <a:solidFill>
                  <a:srgbClr val="F5E5E1"/>
                </a:solidFill>
                <a:latin typeface="Montserrat Semi-Bold"/>
                <a:ea typeface="Montserrat Semi-Bold"/>
                <a:cs typeface="Montserrat Semi-Bold"/>
                <a:sym typeface="Montserrat Semi-Bold"/>
              </a:rPr>
              <a:t>A Data-Driven Study of 300,000+ Crowdfunding Campaigns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11410238" y="1363834"/>
            <a:ext cx="8923166" cy="8923166"/>
          </a:xfrm>
          <a:custGeom>
            <a:avLst/>
            <a:gdLst/>
            <a:ahLst/>
            <a:cxnLst/>
            <a:rect l="l" t="t" r="r" b="b"/>
            <a:pathLst>
              <a:path w="8923166" h="8923166">
                <a:moveTo>
                  <a:pt x="0" y="0"/>
                </a:moveTo>
                <a:lnTo>
                  <a:pt x="8923166" y="0"/>
                </a:lnTo>
                <a:lnTo>
                  <a:pt x="8923166" y="8923166"/>
                </a:lnTo>
                <a:lnTo>
                  <a:pt x="0" y="892316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TextBox 4"/>
          <p:cNvSpPr txBox="1"/>
          <p:nvPr/>
        </p:nvSpPr>
        <p:spPr>
          <a:xfrm>
            <a:off x="1028700" y="2496859"/>
            <a:ext cx="8293267" cy="953135"/>
          </a:xfrm>
          <a:prstGeom prst="rect">
            <a:avLst/>
          </a:prstGeom>
        </p:spPr>
        <p:txBody>
          <a:bodyPr lIns="0" tIns="0" rIns="0" bIns="0" rtlCol="0" anchor="t">
            <a:spAutoFit/>
          </a:bodyPr>
          <a:lstStyle/>
          <a:p>
            <a:pPr algn="l">
              <a:lnSpc>
                <a:spcPts val="7840"/>
              </a:lnSpc>
              <a:spcBef>
                <a:spcPct val="0"/>
              </a:spcBef>
            </a:pPr>
            <a:r>
              <a:rPr lang="en-US" sz="5600" b="1">
                <a:solidFill>
                  <a:srgbClr val="174143"/>
                </a:solidFill>
                <a:latin typeface="Montserrat Bold"/>
                <a:ea typeface="Montserrat Bold"/>
                <a:cs typeface="Montserrat Bold"/>
                <a:sym typeface="Montserrat Bold"/>
              </a:rPr>
              <a:t>INTRODUCTION</a:t>
            </a:r>
          </a:p>
        </p:txBody>
      </p:sp>
      <p:sp>
        <p:nvSpPr>
          <p:cNvPr id="6" name="TextBox 6"/>
          <p:cNvSpPr txBox="1"/>
          <p:nvPr/>
        </p:nvSpPr>
        <p:spPr>
          <a:xfrm>
            <a:off x="1028700" y="8878570"/>
            <a:ext cx="10381538" cy="861774"/>
          </a:xfrm>
          <a:prstGeom prst="rect">
            <a:avLst/>
          </a:prstGeom>
        </p:spPr>
        <p:txBody>
          <a:bodyPr wrap="square" lIns="0" tIns="0" rIns="0" bIns="0" rtlCol="0" anchor="t">
            <a:spAutoFit/>
          </a:bodyPr>
          <a:lstStyle/>
          <a:p>
            <a:r>
              <a:rPr lang="en-US" sz="2800" dirty="0">
                <a:solidFill>
                  <a:srgbClr val="114330"/>
                </a:solidFill>
              </a:rPr>
              <a:t>Today, I’ll walk you through the key factors that drive success on Kickstarter, using insights from thousands of real projects.</a:t>
            </a:r>
          </a:p>
        </p:txBody>
      </p:sp>
      <p:sp>
        <p:nvSpPr>
          <p:cNvPr id="7" name="TextBox 7"/>
          <p:cNvSpPr txBox="1"/>
          <p:nvPr/>
        </p:nvSpPr>
        <p:spPr>
          <a:xfrm>
            <a:off x="1028700" y="3936588"/>
            <a:ext cx="9996148" cy="2660024"/>
          </a:xfrm>
          <a:prstGeom prst="rect">
            <a:avLst/>
          </a:prstGeom>
        </p:spPr>
        <p:txBody>
          <a:bodyPr lIns="0" tIns="0" rIns="0" bIns="0" rtlCol="0" anchor="t">
            <a:spAutoFit/>
          </a:bodyPr>
          <a:lstStyle/>
          <a:p>
            <a:pPr algn="just">
              <a:lnSpc>
                <a:spcPts val="3499"/>
              </a:lnSpc>
              <a:spcBef>
                <a:spcPct val="0"/>
              </a:spcBef>
            </a:pPr>
            <a:r>
              <a:rPr lang="en-US" sz="2500" b="1" dirty="0">
                <a:solidFill>
                  <a:srgbClr val="114330"/>
                </a:solidFill>
                <a:latin typeface="Montserrat" pitchFamily="2" charset="77"/>
              </a:rPr>
              <a:t>Kickstarter is a popular crowdfunding platform that has helped thousands of entrepreneurs and creators bring their innovative ideas to life. However, not all Kickstarter projects are successful, and understanding the factors that contribute to success or failure can be valuable for both creators and investors alike.</a:t>
            </a:r>
            <a:endParaRPr lang="en-US" sz="2500" b="1" dirty="0">
              <a:solidFill>
                <a:srgbClr val="114330"/>
              </a:solidFill>
              <a:latin typeface="Montserrat" pitchFamily="2" charset="77"/>
              <a:ea typeface="Montserrat Medium"/>
              <a:cs typeface="Montserrat Medium"/>
              <a:sym typeface="Montserrat Medium"/>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3" name="Freeform 3"/>
          <p:cNvSpPr/>
          <p:nvPr/>
        </p:nvSpPr>
        <p:spPr>
          <a:xfrm>
            <a:off x="10843953" y="-1028700"/>
            <a:ext cx="6415347" cy="10287000"/>
          </a:xfrm>
          <a:custGeom>
            <a:avLst/>
            <a:gdLst/>
            <a:ahLst/>
            <a:cxnLst/>
            <a:rect l="l" t="t" r="r" b="b"/>
            <a:pathLst>
              <a:path w="6415347" h="10287000">
                <a:moveTo>
                  <a:pt x="0" y="0"/>
                </a:moveTo>
                <a:lnTo>
                  <a:pt x="6415347" y="0"/>
                </a:lnTo>
                <a:lnTo>
                  <a:pt x="6415347" y="10287000"/>
                </a:lnTo>
                <a:lnTo>
                  <a:pt x="0" y="102870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11773723" y="4506202"/>
            <a:ext cx="4555807" cy="4555807"/>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t="-16425" b="-16425"/>
              </a:stretch>
            </a:blipFill>
          </p:spPr>
          <p:txBody>
            <a:bodyPr/>
            <a:lstStyle/>
            <a:p>
              <a:endParaRPr lang="en-US"/>
            </a:p>
          </p:txBody>
        </p:sp>
      </p:grpSp>
      <p:sp>
        <p:nvSpPr>
          <p:cNvPr id="6" name="TextBox 6"/>
          <p:cNvSpPr txBox="1"/>
          <p:nvPr/>
        </p:nvSpPr>
        <p:spPr>
          <a:xfrm>
            <a:off x="1046988" y="4605009"/>
            <a:ext cx="8972210" cy="2693045"/>
          </a:xfrm>
          <a:prstGeom prst="rect">
            <a:avLst/>
          </a:prstGeom>
        </p:spPr>
        <p:txBody>
          <a:bodyPr wrap="square" lIns="0" tIns="0" rIns="0" bIns="0" rtlCol="0" anchor="t">
            <a:spAutoFit/>
          </a:bodyPr>
          <a:lstStyle/>
          <a:p>
            <a:pPr marL="342900" lvl="0" indent="-342900">
              <a:buFont typeface="Arial" panose="020B0604020202020204" pitchFamily="34" charset="0"/>
              <a:buChar char="•"/>
            </a:pPr>
            <a:r>
              <a:rPr lang="en-US" sz="2500" b="1" dirty="0">
                <a:solidFill>
                  <a:srgbClr val="F5E5E1"/>
                </a:solidFill>
              </a:rPr>
              <a:t>U</a:t>
            </a:r>
            <a:r>
              <a:rPr lang="en-US" sz="2500" b="1" dirty="0">
                <a:solidFill>
                  <a:srgbClr val="F5E5E1"/>
                </a:solidFill>
                <a:latin typeface="Montserrat" pitchFamily="2" charset="77"/>
              </a:rPr>
              <a:t>nderstanding which factors lead a Kickstarter project to success</a:t>
            </a:r>
          </a:p>
          <a:p>
            <a:pPr marL="342900" lvl="0" indent="-342900">
              <a:buFont typeface="Arial" panose="020B0604020202020204" pitchFamily="34" charset="0"/>
              <a:buChar char="•"/>
            </a:pPr>
            <a:endParaRPr lang="en-US" sz="2500" b="1" dirty="0">
              <a:solidFill>
                <a:srgbClr val="F5E5E1"/>
              </a:solidFill>
              <a:latin typeface="Montserrat" pitchFamily="2" charset="77"/>
            </a:endParaRPr>
          </a:p>
          <a:p>
            <a:pPr marL="342900" lvl="0" indent="-342900">
              <a:buFont typeface="Arial" panose="020B0604020202020204" pitchFamily="34" charset="0"/>
              <a:buChar char="•"/>
            </a:pPr>
            <a:r>
              <a:rPr lang="en-US" sz="2500" b="1" dirty="0">
                <a:solidFill>
                  <a:srgbClr val="F5E5E1"/>
                </a:solidFill>
                <a:latin typeface="Montserrat" pitchFamily="2" charset="77"/>
              </a:rPr>
              <a:t>Identify patterns behind failures</a:t>
            </a:r>
          </a:p>
          <a:p>
            <a:pPr marL="342900" lvl="0" indent="-342900">
              <a:buFont typeface="Arial" panose="020B0604020202020204" pitchFamily="34" charset="0"/>
              <a:buChar char="•"/>
            </a:pPr>
            <a:endParaRPr lang="en-US" sz="2500" b="1" dirty="0">
              <a:solidFill>
                <a:srgbClr val="F5E5E1"/>
              </a:solidFill>
              <a:latin typeface="Montserrat" pitchFamily="2" charset="77"/>
            </a:endParaRPr>
          </a:p>
          <a:p>
            <a:pPr marL="342900" lvl="0" indent="-342900">
              <a:buFont typeface="Arial" panose="020B0604020202020204" pitchFamily="34" charset="0"/>
              <a:buChar char="•"/>
            </a:pPr>
            <a:r>
              <a:rPr lang="en-US" sz="2500" b="1" dirty="0">
                <a:solidFill>
                  <a:srgbClr val="F5E5E1"/>
                </a:solidFill>
                <a:latin typeface="Montserrat" pitchFamily="2" charset="77"/>
              </a:rPr>
              <a:t>Build simple guidelines which creators can use to improve chances of success</a:t>
            </a:r>
          </a:p>
        </p:txBody>
      </p:sp>
      <p:sp>
        <p:nvSpPr>
          <p:cNvPr id="8" name="TextBox 8"/>
          <p:cNvSpPr txBox="1"/>
          <p:nvPr/>
        </p:nvSpPr>
        <p:spPr>
          <a:xfrm>
            <a:off x="1028700" y="2805253"/>
            <a:ext cx="8293267" cy="953135"/>
          </a:xfrm>
          <a:prstGeom prst="rect">
            <a:avLst/>
          </a:prstGeom>
        </p:spPr>
        <p:txBody>
          <a:bodyPr lIns="0" tIns="0" rIns="0" bIns="0" rtlCol="0" anchor="t">
            <a:spAutoFit/>
          </a:bodyPr>
          <a:lstStyle/>
          <a:p>
            <a:pPr algn="l">
              <a:lnSpc>
                <a:spcPts val="7840"/>
              </a:lnSpc>
              <a:spcBef>
                <a:spcPct val="0"/>
              </a:spcBef>
            </a:pPr>
            <a:r>
              <a:rPr lang="en-US" sz="5600" b="1" dirty="0">
                <a:solidFill>
                  <a:srgbClr val="F5E5E1"/>
                </a:solidFill>
                <a:latin typeface="Montserrat Bold"/>
                <a:ea typeface="Montserrat Bold"/>
                <a:cs typeface="Montserrat Bold"/>
                <a:sym typeface="Montserrat Bold"/>
              </a:rPr>
              <a:t>Objective: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3" name="Freeform 3"/>
          <p:cNvSpPr/>
          <p:nvPr/>
        </p:nvSpPr>
        <p:spPr>
          <a:xfrm>
            <a:off x="9646444" y="-497681"/>
            <a:ext cx="11282362" cy="11282362"/>
          </a:xfrm>
          <a:custGeom>
            <a:avLst/>
            <a:gdLst/>
            <a:ahLst/>
            <a:cxnLst/>
            <a:rect l="l" t="t" r="r" b="b"/>
            <a:pathLst>
              <a:path w="11282362" h="11282362">
                <a:moveTo>
                  <a:pt x="0" y="0"/>
                </a:moveTo>
                <a:lnTo>
                  <a:pt x="11282362" y="0"/>
                </a:lnTo>
                <a:lnTo>
                  <a:pt x="11282362" y="11282362"/>
                </a:lnTo>
                <a:lnTo>
                  <a:pt x="0" y="1128236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9830752" y="-262922"/>
            <a:ext cx="5246370" cy="5246370"/>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25342" r="-25342"/>
              </a:stretch>
            </a:blipFill>
          </p:spPr>
          <p:txBody>
            <a:bodyPr/>
            <a:lstStyle/>
            <a:p>
              <a:endParaRPr lang="en-US"/>
            </a:p>
          </p:txBody>
        </p:sp>
      </p:grpSp>
      <p:grpSp>
        <p:nvGrpSpPr>
          <p:cNvPr id="6" name="Group 6"/>
          <p:cNvGrpSpPr/>
          <p:nvPr/>
        </p:nvGrpSpPr>
        <p:grpSpPr>
          <a:xfrm>
            <a:off x="9830752" y="5338604"/>
            <a:ext cx="5246370" cy="5246370"/>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
              <a:stretch>
                <a:fillRect l="-25000" r="-25000"/>
              </a:stretch>
            </a:blipFill>
          </p:spPr>
          <p:txBody>
            <a:bodyPr/>
            <a:lstStyle/>
            <a:p>
              <a:endParaRPr lang="en-US"/>
            </a:p>
          </p:txBody>
        </p:sp>
      </p:grpSp>
      <p:sp>
        <p:nvSpPr>
          <p:cNvPr id="8" name="TextBox 8"/>
          <p:cNvSpPr txBox="1"/>
          <p:nvPr/>
        </p:nvSpPr>
        <p:spPr>
          <a:xfrm>
            <a:off x="1028700" y="4305300"/>
            <a:ext cx="7277100" cy="1995106"/>
          </a:xfrm>
          <a:prstGeom prst="rect">
            <a:avLst/>
          </a:prstGeom>
        </p:spPr>
        <p:txBody>
          <a:bodyPr wrap="square" lIns="0" tIns="0" rIns="0" bIns="0" rtlCol="0" anchor="t">
            <a:spAutoFit/>
          </a:bodyPr>
          <a:lstStyle/>
          <a:p>
            <a:pPr lvl="0"/>
            <a:r>
              <a:rPr lang="en-US" sz="2500" b="1" dirty="0">
                <a:solidFill>
                  <a:srgbClr val="F5E5E1"/>
                </a:solidFill>
                <a:latin typeface="Montserrat" pitchFamily="2" charset="77"/>
              </a:rPr>
              <a:t>Data for 375,000+ Kickstarter projects from 2009-2017, including project name, category, launch date, deadline, goal, amount pledged, number of backers, state, and country.</a:t>
            </a:r>
          </a:p>
        </p:txBody>
      </p:sp>
      <p:sp>
        <p:nvSpPr>
          <p:cNvPr id="9" name="TextBox 9"/>
          <p:cNvSpPr txBox="1"/>
          <p:nvPr/>
        </p:nvSpPr>
        <p:spPr>
          <a:xfrm>
            <a:off x="1028700" y="2360263"/>
            <a:ext cx="8293267" cy="833562"/>
          </a:xfrm>
          <a:prstGeom prst="rect">
            <a:avLst/>
          </a:prstGeom>
        </p:spPr>
        <p:txBody>
          <a:bodyPr lIns="0" tIns="0" rIns="0" bIns="0" rtlCol="0" anchor="t">
            <a:spAutoFit/>
          </a:bodyPr>
          <a:lstStyle/>
          <a:p>
            <a:pPr algn="l">
              <a:lnSpc>
                <a:spcPts val="6496"/>
              </a:lnSpc>
            </a:pPr>
            <a:r>
              <a:rPr lang="en-US" sz="5600" b="1" dirty="0">
                <a:solidFill>
                  <a:srgbClr val="F5E5E1"/>
                </a:solidFill>
                <a:latin typeface="Montserrat Bold"/>
                <a:ea typeface="Montserrat Bold"/>
                <a:cs typeface="Montserrat Bold"/>
                <a:sym typeface="Montserrat Bold"/>
              </a:rPr>
              <a:t>About the Dataset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8515860" y="5143500"/>
            <a:ext cx="8972210" cy="1538883"/>
          </a:xfrm>
          <a:prstGeom prst="rect">
            <a:avLst/>
          </a:prstGeom>
        </p:spPr>
        <p:txBody>
          <a:bodyPr lIns="0" tIns="0" rIns="0" bIns="0" rtlCol="0" anchor="t">
            <a:spAutoFit/>
          </a:bodyPr>
          <a:lstStyle/>
          <a:p>
            <a:r>
              <a:rPr lang="en-US" sz="2500" b="1" dirty="0">
                <a:solidFill>
                  <a:srgbClr val="114330"/>
                </a:solidFill>
                <a:latin typeface="Montserrat" pitchFamily="2" charset="77"/>
              </a:rPr>
              <a:t>Most Kickstarter projects unfortunately fail. Only a smaller portion reaches their funding goal. Understanding why is the main focus of this analysis.”</a:t>
            </a:r>
          </a:p>
        </p:txBody>
      </p:sp>
      <p:sp>
        <p:nvSpPr>
          <p:cNvPr id="5" name="TextBox 5"/>
          <p:cNvSpPr txBox="1"/>
          <p:nvPr/>
        </p:nvSpPr>
        <p:spPr>
          <a:xfrm>
            <a:off x="7848600" y="2196104"/>
            <a:ext cx="11353800" cy="889667"/>
          </a:xfrm>
          <a:prstGeom prst="rect">
            <a:avLst/>
          </a:prstGeom>
        </p:spPr>
        <p:txBody>
          <a:bodyPr wrap="square" lIns="0" tIns="0" rIns="0" bIns="0" rtlCol="0" anchor="t">
            <a:spAutoFit/>
          </a:bodyPr>
          <a:lstStyle/>
          <a:p>
            <a:pPr>
              <a:lnSpc>
                <a:spcPts val="7840"/>
              </a:lnSpc>
              <a:spcBef>
                <a:spcPct val="0"/>
              </a:spcBef>
            </a:pPr>
            <a:r>
              <a:rPr lang="en-US" sz="4400" b="1" dirty="0">
                <a:solidFill>
                  <a:srgbClr val="174143"/>
                </a:solidFill>
                <a:latin typeface="Montserrat Bold"/>
                <a:ea typeface="Montserrat Bold"/>
                <a:cs typeface="Montserrat Bold"/>
                <a:sym typeface="Montserrat Bold"/>
              </a:rPr>
              <a:t>Percentage</a:t>
            </a:r>
            <a:r>
              <a:rPr lang="en-US" sz="4000" b="1" dirty="0">
                <a:solidFill>
                  <a:srgbClr val="174143"/>
                </a:solidFill>
                <a:latin typeface="Montserrat Bold"/>
                <a:ea typeface="Montserrat Bold"/>
                <a:cs typeface="Montserrat Bold"/>
                <a:sym typeface="Montserrat Bold"/>
              </a:rPr>
              <a:t> of Successful Campaigns</a:t>
            </a:r>
          </a:p>
        </p:txBody>
      </p:sp>
      <p:sp>
        <p:nvSpPr>
          <p:cNvPr id="6" name="TextBox 6"/>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10" name="Picture 9" descr="A pie chart with text overlay&#10;&#10;AI-generated content may be incorrect.">
            <a:extLst>
              <a:ext uri="{FF2B5EF4-FFF2-40B4-BE49-F238E27FC236}">
                <a16:creationId xmlns:a16="http://schemas.microsoft.com/office/drawing/2014/main" id="{ACC4B6E5-418D-62A6-41C5-27B13D5511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5896" y="2400300"/>
            <a:ext cx="7206519" cy="65104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582F1-0D34-0D1F-D321-C0B818046601}"/>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1B1629AA-319C-0160-7823-3E521E61E6CE}"/>
              </a:ext>
            </a:extLst>
          </p:cNvPr>
          <p:cNvSpPr txBox="1"/>
          <p:nvPr/>
        </p:nvSpPr>
        <p:spPr>
          <a:xfrm>
            <a:off x="1293157" y="8641040"/>
            <a:ext cx="15701686" cy="861774"/>
          </a:xfrm>
          <a:prstGeom prst="rect">
            <a:avLst/>
          </a:prstGeom>
        </p:spPr>
        <p:txBody>
          <a:bodyPr wrap="square" lIns="0" tIns="0" rIns="0" bIns="0" rtlCol="0" anchor="t">
            <a:spAutoFit/>
          </a:bodyPr>
          <a:lstStyle/>
          <a:p>
            <a:r>
              <a:rPr lang="en-US" sz="2800" b="1" dirty="0">
                <a:solidFill>
                  <a:srgbClr val="114330"/>
                </a:solidFill>
                <a:latin typeface="Montserrat" pitchFamily="2" charset="77"/>
              </a:rPr>
              <a:t>Certain categories are more likely to fail, highlighting the importance of choosing the right project topic.</a:t>
            </a:r>
            <a:endParaRPr lang="en-US" sz="2400" b="1" dirty="0">
              <a:solidFill>
                <a:srgbClr val="114330"/>
              </a:solidFill>
              <a:latin typeface="Montserrat" pitchFamily="2" charset="77"/>
            </a:endParaRPr>
          </a:p>
        </p:txBody>
      </p:sp>
      <p:sp>
        <p:nvSpPr>
          <p:cNvPr id="5" name="TextBox 5">
            <a:extLst>
              <a:ext uri="{FF2B5EF4-FFF2-40B4-BE49-F238E27FC236}">
                <a16:creationId xmlns:a16="http://schemas.microsoft.com/office/drawing/2014/main" id="{337B614D-4827-F635-9648-27D95ED2A20D}"/>
              </a:ext>
            </a:extLst>
          </p:cNvPr>
          <p:cNvSpPr txBox="1"/>
          <p:nvPr/>
        </p:nvSpPr>
        <p:spPr>
          <a:xfrm>
            <a:off x="1293157" y="7798318"/>
            <a:ext cx="11353800" cy="889667"/>
          </a:xfrm>
          <a:prstGeom prst="rect">
            <a:avLst/>
          </a:prstGeom>
        </p:spPr>
        <p:txBody>
          <a:bodyPr wrap="square" lIns="0" tIns="0" rIns="0" bIns="0" rtlCol="0" anchor="t">
            <a:spAutoFit/>
          </a:bodyPr>
          <a:lstStyle/>
          <a:p>
            <a:pPr>
              <a:lnSpc>
                <a:spcPts val="7840"/>
              </a:lnSpc>
              <a:spcBef>
                <a:spcPct val="0"/>
              </a:spcBef>
            </a:pPr>
            <a:r>
              <a:rPr lang="en-US" sz="4000" b="1" dirty="0">
                <a:solidFill>
                  <a:srgbClr val="174143"/>
                </a:solidFill>
                <a:latin typeface="Montserrat Bold"/>
                <a:ea typeface="Montserrat Bold"/>
                <a:cs typeface="Montserrat Bold"/>
                <a:sym typeface="Montserrat Bold"/>
              </a:rPr>
              <a:t> </a:t>
            </a:r>
          </a:p>
        </p:txBody>
      </p:sp>
      <p:sp>
        <p:nvSpPr>
          <p:cNvPr id="7" name="TextBox 7">
            <a:extLst>
              <a:ext uri="{FF2B5EF4-FFF2-40B4-BE49-F238E27FC236}">
                <a16:creationId xmlns:a16="http://schemas.microsoft.com/office/drawing/2014/main" id="{C19F34C4-594C-EC38-C29F-AFE1BAA99CA7}"/>
              </a:ext>
            </a:extLst>
          </p:cNvPr>
          <p:cNvSpPr txBox="1"/>
          <p:nvPr/>
        </p:nvSpPr>
        <p:spPr>
          <a:xfrm>
            <a:off x="13001965" y="8885555"/>
            <a:ext cx="4257335" cy="372745"/>
          </a:xfrm>
          <a:prstGeom prst="rect">
            <a:avLst/>
          </a:prstGeom>
        </p:spPr>
        <p:txBody>
          <a:bodyPr lIns="0" tIns="0" rIns="0" bIns="0" rtlCol="0" anchor="t">
            <a:spAutoFit/>
          </a:bodyPr>
          <a:lstStyle/>
          <a:p>
            <a:pPr algn="r">
              <a:lnSpc>
                <a:spcPts val="3080"/>
              </a:lnSpc>
              <a:spcBef>
                <a:spcPct val="0"/>
              </a:spcBef>
            </a:pPr>
            <a:endParaRPr lang="en-US" sz="2200" b="1" dirty="0">
              <a:solidFill>
                <a:srgbClr val="174143"/>
              </a:solidFill>
              <a:latin typeface="Montserrat Medium"/>
              <a:ea typeface="Montserrat Medium"/>
              <a:cs typeface="Montserrat Medium"/>
              <a:sym typeface="Montserrat Medium"/>
            </a:endParaRPr>
          </a:p>
        </p:txBody>
      </p:sp>
      <p:pic>
        <p:nvPicPr>
          <p:cNvPr id="11" name="Picture 10" descr="A graph showing a bar graph&#10;&#10;AI-generated content may be incorrect.">
            <a:extLst>
              <a:ext uri="{FF2B5EF4-FFF2-40B4-BE49-F238E27FC236}">
                <a16:creationId xmlns:a16="http://schemas.microsoft.com/office/drawing/2014/main" id="{144F94A9-A9C8-1BD7-1F13-351466889F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0086" y="0"/>
            <a:ext cx="16467805" cy="8156948"/>
          </a:xfrm>
          <a:prstGeom prst="rect">
            <a:avLst/>
          </a:prstGeom>
        </p:spPr>
      </p:pic>
    </p:spTree>
    <p:extLst>
      <p:ext uri="{BB962C8B-B14F-4D97-AF65-F5344CB8AC3E}">
        <p14:creationId xmlns:p14="http://schemas.microsoft.com/office/powerpoint/2010/main" val="2850363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02C25-D63C-5A33-5F5F-BC5EBEAD4859}"/>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B4FA922E-4FBA-C373-252B-6CA2642B751D}"/>
              </a:ext>
            </a:extLst>
          </p:cNvPr>
          <p:cNvSpPr txBox="1"/>
          <p:nvPr/>
        </p:nvSpPr>
        <p:spPr>
          <a:xfrm>
            <a:off x="670306" y="8966094"/>
            <a:ext cx="16550894" cy="769441"/>
          </a:xfrm>
          <a:prstGeom prst="rect">
            <a:avLst/>
          </a:prstGeom>
        </p:spPr>
        <p:txBody>
          <a:bodyPr wrap="square" lIns="0" tIns="0" rIns="0" bIns="0" rtlCol="0" anchor="t">
            <a:spAutoFit/>
          </a:bodyPr>
          <a:lstStyle/>
          <a:p>
            <a:r>
              <a:rPr lang="en-US" sz="2500" b="1" dirty="0">
                <a:solidFill>
                  <a:srgbClr val="114330"/>
                </a:solidFill>
                <a:latin typeface="Montserrat" pitchFamily="2" charset="77"/>
              </a:rPr>
              <a:t>Projects in 'dance' or 'theater' categories have best chances to success,; journalism and technology are mostly doomed to fail.</a:t>
            </a:r>
          </a:p>
        </p:txBody>
      </p:sp>
      <p:sp>
        <p:nvSpPr>
          <p:cNvPr id="6" name="TextBox 6">
            <a:extLst>
              <a:ext uri="{FF2B5EF4-FFF2-40B4-BE49-F238E27FC236}">
                <a16:creationId xmlns:a16="http://schemas.microsoft.com/office/drawing/2014/main" id="{C6A6BA0A-2291-82E9-AD37-ED7FDE34AB29}"/>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4" name="Picture 3" descr="A graph of success rate&#10;&#10;AI-generated content may be incorrect.">
            <a:extLst>
              <a:ext uri="{FF2B5EF4-FFF2-40B4-BE49-F238E27FC236}">
                <a16:creationId xmlns:a16="http://schemas.microsoft.com/office/drawing/2014/main" id="{F545434C-1776-D408-EF60-8CEC0A94EA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1642" y="-13716"/>
            <a:ext cx="16529558" cy="8187536"/>
          </a:xfrm>
          <a:prstGeom prst="rect">
            <a:avLst/>
          </a:prstGeom>
        </p:spPr>
      </p:pic>
    </p:spTree>
    <p:extLst>
      <p:ext uri="{BB962C8B-B14F-4D97-AF65-F5344CB8AC3E}">
        <p14:creationId xmlns:p14="http://schemas.microsoft.com/office/powerpoint/2010/main" val="34953544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E2FA1-733E-F7E6-C6D5-AC3D8C324713}"/>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3DB5BD5C-65A2-3C76-E894-6BF50466334B}"/>
              </a:ext>
            </a:extLst>
          </p:cNvPr>
          <p:cNvSpPr txBox="1"/>
          <p:nvPr/>
        </p:nvSpPr>
        <p:spPr>
          <a:xfrm>
            <a:off x="834643" y="8930395"/>
            <a:ext cx="16999072" cy="769441"/>
          </a:xfrm>
          <a:prstGeom prst="rect">
            <a:avLst/>
          </a:prstGeom>
        </p:spPr>
        <p:txBody>
          <a:bodyPr wrap="square" lIns="0" tIns="0" rIns="0" bIns="0" rtlCol="0" anchor="t">
            <a:spAutoFit/>
          </a:bodyPr>
          <a:lstStyle/>
          <a:p>
            <a:r>
              <a:rPr lang="en-US" sz="2500" b="1" dirty="0">
                <a:solidFill>
                  <a:srgbClr val="114330"/>
                </a:solidFill>
                <a:latin typeface="Montserrat" pitchFamily="2" charset="77"/>
              </a:rPr>
              <a:t>Projects that start in the “United States” have more chances to succeed than those in countries like “Italy”.</a:t>
            </a:r>
          </a:p>
        </p:txBody>
      </p:sp>
      <p:sp>
        <p:nvSpPr>
          <p:cNvPr id="6" name="TextBox 6">
            <a:extLst>
              <a:ext uri="{FF2B5EF4-FFF2-40B4-BE49-F238E27FC236}">
                <a16:creationId xmlns:a16="http://schemas.microsoft.com/office/drawing/2014/main" id="{A47D04E4-0160-C416-F1DF-07C17BD07164}"/>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5" name="Picture 4" descr="A graph of blue bars with white text&#10;&#10;AI-generated content may be incorrect.">
            <a:extLst>
              <a:ext uri="{FF2B5EF4-FFF2-40B4-BE49-F238E27FC236}">
                <a16:creationId xmlns:a16="http://schemas.microsoft.com/office/drawing/2014/main" id="{0848FAB7-4F43-F25A-FB06-46C30DAF07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8301" y="0"/>
            <a:ext cx="16999073" cy="8420100"/>
          </a:xfrm>
          <a:prstGeom prst="rect">
            <a:avLst/>
          </a:prstGeom>
        </p:spPr>
      </p:pic>
    </p:spTree>
    <p:extLst>
      <p:ext uri="{BB962C8B-B14F-4D97-AF65-F5344CB8AC3E}">
        <p14:creationId xmlns:p14="http://schemas.microsoft.com/office/powerpoint/2010/main" val="38592105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7F8E28-17C4-E7F9-2BEC-55A0931082A9}"/>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EFB4ABD6-6346-EF6D-FE64-0F65754C6F97}"/>
              </a:ext>
            </a:extLst>
          </p:cNvPr>
          <p:cNvSpPr txBox="1"/>
          <p:nvPr/>
        </p:nvSpPr>
        <p:spPr>
          <a:xfrm>
            <a:off x="838200" y="9221322"/>
            <a:ext cx="16999072" cy="692497"/>
          </a:xfrm>
          <a:prstGeom prst="rect">
            <a:avLst/>
          </a:prstGeom>
        </p:spPr>
        <p:txBody>
          <a:bodyPr wrap="square" lIns="0" tIns="0" rIns="0" bIns="0" rtlCol="0" anchor="t">
            <a:spAutoFit/>
          </a:bodyPr>
          <a:lstStyle/>
          <a:p>
            <a:pPr>
              <a:lnSpc>
                <a:spcPct val="90000"/>
              </a:lnSpc>
              <a:spcAft>
                <a:spcPts val="600"/>
              </a:spcAft>
            </a:pPr>
            <a:r>
              <a:rPr lang="en-US" sz="2500" b="1" dirty="0">
                <a:solidFill>
                  <a:srgbClr val="114330"/>
                </a:solidFill>
                <a:latin typeface="Montserrat" pitchFamily="2" charset="77"/>
              </a:rPr>
              <a:t>Projects launched in July and December have low success chances, due to Christmas and summer vacation. </a:t>
            </a:r>
          </a:p>
        </p:txBody>
      </p:sp>
      <p:sp>
        <p:nvSpPr>
          <p:cNvPr id="6" name="TextBox 6">
            <a:extLst>
              <a:ext uri="{FF2B5EF4-FFF2-40B4-BE49-F238E27FC236}">
                <a16:creationId xmlns:a16="http://schemas.microsoft.com/office/drawing/2014/main" id="{1CFB6188-1086-8848-38C2-DB892421DEAF}"/>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4" name="Picture 3" descr="A graph of a graph of success&#10;&#10;AI-generated content may be incorrect.">
            <a:extLst>
              <a:ext uri="{FF2B5EF4-FFF2-40B4-BE49-F238E27FC236}">
                <a16:creationId xmlns:a16="http://schemas.microsoft.com/office/drawing/2014/main" id="{98B2C925-1C43-12A1-E6B1-659646C97F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287" y="27695"/>
            <a:ext cx="18033426" cy="8915400"/>
          </a:xfrm>
          <a:prstGeom prst="rect">
            <a:avLst/>
          </a:prstGeom>
        </p:spPr>
      </p:pic>
    </p:spTree>
    <p:extLst>
      <p:ext uri="{BB962C8B-B14F-4D97-AF65-F5344CB8AC3E}">
        <p14:creationId xmlns:p14="http://schemas.microsoft.com/office/powerpoint/2010/main" val="1614860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D2A46-3840-6C50-60ED-C0AFDC473780}"/>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79DF3CD2-7C07-728A-563A-58CC04443A98}"/>
              </a:ext>
            </a:extLst>
          </p:cNvPr>
          <p:cNvSpPr txBox="1"/>
          <p:nvPr/>
        </p:nvSpPr>
        <p:spPr>
          <a:xfrm>
            <a:off x="1294274" y="9054098"/>
            <a:ext cx="15699452" cy="769441"/>
          </a:xfrm>
          <a:prstGeom prst="rect">
            <a:avLst/>
          </a:prstGeom>
        </p:spPr>
        <p:txBody>
          <a:bodyPr wrap="square" lIns="0" tIns="0" rIns="0" bIns="0" rtlCol="0" anchor="t">
            <a:spAutoFit/>
          </a:bodyPr>
          <a:lstStyle/>
          <a:p>
            <a:r>
              <a:rPr lang="en-US" sz="2500" b="1" dirty="0">
                <a:solidFill>
                  <a:srgbClr val="114330"/>
                </a:solidFill>
                <a:latin typeface="Montserrat" pitchFamily="2" charset="77"/>
              </a:rPr>
              <a:t>These are the key factors that have the strongest influence on project chances to succeeds.</a:t>
            </a:r>
          </a:p>
          <a:p>
            <a:r>
              <a:rPr lang="en-US" sz="2500" b="1" dirty="0">
                <a:solidFill>
                  <a:srgbClr val="114330"/>
                </a:solidFill>
                <a:latin typeface="Montserrat" pitchFamily="2" charset="77"/>
              </a:rPr>
              <a:t>The taller the bar, the more that factor contributes to success.</a:t>
            </a:r>
          </a:p>
        </p:txBody>
      </p:sp>
      <p:sp>
        <p:nvSpPr>
          <p:cNvPr id="6" name="TextBox 6">
            <a:extLst>
              <a:ext uri="{FF2B5EF4-FFF2-40B4-BE49-F238E27FC236}">
                <a16:creationId xmlns:a16="http://schemas.microsoft.com/office/drawing/2014/main" id="{E2A38539-31CB-2236-106E-21F547F3D0BD}"/>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4" name="Picture 3" descr="A graph of success drivers&#10;&#10;AI-generated content may be incorrect.">
            <a:extLst>
              <a:ext uri="{FF2B5EF4-FFF2-40B4-BE49-F238E27FC236}">
                <a16:creationId xmlns:a16="http://schemas.microsoft.com/office/drawing/2014/main" id="{C931CECB-46E7-169F-84DA-37B28E78BF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0700" y="27940"/>
            <a:ext cx="14706600" cy="8757861"/>
          </a:xfrm>
          <a:prstGeom prst="rect">
            <a:avLst/>
          </a:prstGeom>
        </p:spPr>
      </p:pic>
    </p:spTree>
    <p:extLst>
      <p:ext uri="{BB962C8B-B14F-4D97-AF65-F5344CB8AC3E}">
        <p14:creationId xmlns:p14="http://schemas.microsoft.com/office/powerpoint/2010/main" val="5622363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7EF79-882E-BAD0-879C-F7FC083CD99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BD6C52-E1D4-D713-8E2B-270B36F85961}"/>
              </a:ext>
            </a:extLst>
          </p:cNvPr>
          <p:cNvSpPr/>
          <p:nvPr/>
        </p:nvSpPr>
        <p:spPr>
          <a:xfrm>
            <a:off x="7418447" y="-184455"/>
            <a:ext cx="12966262" cy="10655910"/>
          </a:xfrm>
          <a:custGeom>
            <a:avLst/>
            <a:gdLst/>
            <a:ahLst/>
            <a:cxnLst/>
            <a:rect l="l" t="t" r="r" b="b"/>
            <a:pathLst>
              <a:path w="12966262" h="10655910">
                <a:moveTo>
                  <a:pt x="0" y="0"/>
                </a:moveTo>
                <a:lnTo>
                  <a:pt x="12966262" y="0"/>
                </a:lnTo>
                <a:lnTo>
                  <a:pt x="12966262" y="10655910"/>
                </a:lnTo>
                <a:lnTo>
                  <a:pt x="0" y="106559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TextBox 4">
            <a:extLst>
              <a:ext uri="{FF2B5EF4-FFF2-40B4-BE49-F238E27FC236}">
                <a16:creationId xmlns:a16="http://schemas.microsoft.com/office/drawing/2014/main" id="{0DADF9A5-3D48-0454-3087-71B8AFC22DAF}"/>
              </a:ext>
            </a:extLst>
          </p:cNvPr>
          <p:cNvSpPr txBox="1"/>
          <p:nvPr/>
        </p:nvSpPr>
        <p:spPr>
          <a:xfrm>
            <a:off x="1371600" y="4732000"/>
            <a:ext cx="7001297" cy="5278368"/>
          </a:xfrm>
          <a:prstGeom prst="rect">
            <a:avLst/>
          </a:prstGeom>
        </p:spPr>
        <p:txBody>
          <a:bodyPr wrap="square" lIns="0" tIns="0" rIns="0" bIns="0" rtlCol="0" anchor="t">
            <a:spAutoFit/>
          </a:bodyPr>
          <a:lstStyle/>
          <a:p>
            <a:endParaRPr lang="en-US" dirty="0"/>
          </a:p>
          <a:p>
            <a:pPr marL="457200" indent="-457200">
              <a:buFont typeface="Arial" panose="020B0604020202020204" pitchFamily="34" charset="0"/>
              <a:buChar char="•"/>
            </a:pPr>
            <a:r>
              <a:rPr lang="en-US" sz="2500" b="1" dirty="0">
                <a:solidFill>
                  <a:srgbClr val="114330"/>
                </a:solidFill>
                <a:latin typeface="Montserrat" pitchFamily="2" charset="77"/>
              </a:rPr>
              <a:t>Smaller funding goals significantly improve success rates.</a:t>
            </a:r>
          </a:p>
          <a:p>
            <a:pPr marL="457200" indent="-457200">
              <a:buFont typeface="Arial" panose="020B0604020202020204" pitchFamily="34" charset="0"/>
              <a:buChar char="•"/>
            </a:pPr>
            <a:r>
              <a:rPr lang="en-US" sz="2500" b="1" dirty="0">
                <a:solidFill>
                  <a:srgbClr val="114330"/>
                </a:solidFill>
                <a:latin typeface="Montserrat" pitchFamily="2" charset="77"/>
              </a:rPr>
              <a:t>Dance and Theater are the highest-performing categories.</a:t>
            </a:r>
          </a:p>
          <a:p>
            <a:pPr marL="457200" indent="-457200">
              <a:buFont typeface="Arial" panose="020B0604020202020204" pitchFamily="34" charset="0"/>
              <a:buChar char="•"/>
            </a:pPr>
            <a:r>
              <a:rPr lang="en-US" sz="2500" b="1" dirty="0">
                <a:solidFill>
                  <a:srgbClr val="114330"/>
                </a:solidFill>
                <a:latin typeface="Montserrat" pitchFamily="2" charset="77"/>
              </a:rPr>
              <a:t>Projects launched in the United States and United Kingdom have nearly twice the success rate of those in Italy.</a:t>
            </a:r>
          </a:p>
          <a:p>
            <a:pPr marL="457200" indent="-457200">
              <a:buFont typeface="Arial" panose="020B0604020202020204" pitchFamily="34" charset="0"/>
              <a:buChar char="•"/>
            </a:pPr>
            <a:r>
              <a:rPr lang="en-US" sz="2500" b="1" dirty="0">
                <a:solidFill>
                  <a:srgbClr val="114330"/>
                </a:solidFill>
                <a:latin typeface="Montserrat" pitchFamily="2" charset="77"/>
              </a:rPr>
              <a:t>July and December show the lowest success rates — poor months to launch.</a:t>
            </a:r>
          </a:p>
          <a:p>
            <a:pPr marL="457200" indent="-457200">
              <a:buFont typeface="Arial" panose="020B0604020202020204" pitchFamily="34" charset="0"/>
              <a:buChar char="•"/>
            </a:pPr>
            <a:r>
              <a:rPr lang="en-US" sz="2500" b="1" dirty="0">
                <a:solidFill>
                  <a:srgbClr val="114330"/>
                </a:solidFill>
                <a:latin typeface="Montserrat" pitchFamily="2" charset="77"/>
              </a:rPr>
              <a:t>Funding Achieved (%) is the strongest predictor of whether a campaign succeeds.</a:t>
            </a:r>
          </a:p>
        </p:txBody>
      </p:sp>
      <p:sp>
        <p:nvSpPr>
          <p:cNvPr id="5" name="TextBox 5">
            <a:extLst>
              <a:ext uri="{FF2B5EF4-FFF2-40B4-BE49-F238E27FC236}">
                <a16:creationId xmlns:a16="http://schemas.microsoft.com/office/drawing/2014/main" id="{5A5649AB-0BF1-0B5A-06D8-996B963966D1}"/>
              </a:ext>
            </a:extLst>
          </p:cNvPr>
          <p:cNvSpPr txBox="1"/>
          <p:nvPr/>
        </p:nvSpPr>
        <p:spPr>
          <a:xfrm>
            <a:off x="1014943" y="2324100"/>
            <a:ext cx="7124700" cy="833562"/>
          </a:xfrm>
          <a:prstGeom prst="rect">
            <a:avLst/>
          </a:prstGeom>
        </p:spPr>
        <p:txBody>
          <a:bodyPr wrap="square" lIns="0" tIns="0" rIns="0" bIns="0" rtlCol="0" anchor="t">
            <a:spAutoFit/>
          </a:bodyPr>
          <a:lstStyle/>
          <a:p>
            <a:pPr algn="l">
              <a:lnSpc>
                <a:spcPts val="6496"/>
              </a:lnSpc>
            </a:pPr>
            <a:r>
              <a:rPr lang="en-US" sz="5600" b="1" dirty="0">
                <a:solidFill>
                  <a:srgbClr val="174143"/>
                </a:solidFill>
                <a:latin typeface="Montserrat Bold"/>
                <a:ea typeface="Montserrat Bold"/>
                <a:cs typeface="Montserrat Bold"/>
                <a:sym typeface="Montserrat Bold"/>
              </a:rPr>
              <a:t>Key Findings</a:t>
            </a:r>
          </a:p>
        </p:txBody>
      </p:sp>
      <p:sp>
        <p:nvSpPr>
          <p:cNvPr id="8" name="TextBox 7">
            <a:extLst>
              <a:ext uri="{FF2B5EF4-FFF2-40B4-BE49-F238E27FC236}">
                <a16:creationId xmlns:a16="http://schemas.microsoft.com/office/drawing/2014/main" id="{E427D6F9-3910-723A-7321-0C0491CA2509}"/>
              </a:ext>
            </a:extLst>
          </p:cNvPr>
          <p:cNvSpPr txBox="1"/>
          <p:nvPr/>
        </p:nvSpPr>
        <p:spPr>
          <a:xfrm>
            <a:off x="6547104" y="4206240"/>
            <a:ext cx="184731" cy="369332"/>
          </a:xfrm>
          <a:prstGeom prst="rect">
            <a:avLst/>
          </a:prstGeom>
          <a:noFill/>
        </p:spPr>
        <p:txBody>
          <a:bodyPr wrap="none" rtlCol="0">
            <a:spAutoFit/>
          </a:bodyPr>
          <a:lstStyle/>
          <a:p>
            <a:endParaRPr lang="en-US" dirty="0"/>
          </a:p>
        </p:txBody>
      </p:sp>
      <p:sp>
        <p:nvSpPr>
          <p:cNvPr id="10" name="TextBox 9">
            <a:extLst>
              <a:ext uri="{FF2B5EF4-FFF2-40B4-BE49-F238E27FC236}">
                <a16:creationId xmlns:a16="http://schemas.microsoft.com/office/drawing/2014/main" id="{8825F6F9-04C5-0A29-7E14-EB8C16D78EEF}"/>
              </a:ext>
            </a:extLst>
          </p:cNvPr>
          <p:cNvSpPr txBox="1"/>
          <p:nvPr/>
        </p:nvSpPr>
        <p:spPr>
          <a:xfrm>
            <a:off x="1014943" y="3683020"/>
            <a:ext cx="10190480" cy="523220"/>
          </a:xfrm>
          <a:prstGeom prst="rect">
            <a:avLst/>
          </a:prstGeom>
          <a:noFill/>
        </p:spPr>
        <p:txBody>
          <a:bodyPr wrap="square">
            <a:spAutoFit/>
          </a:bodyPr>
          <a:lstStyle/>
          <a:p>
            <a:r>
              <a:rPr lang="en-US" sz="2800" b="1" dirty="0">
                <a:solidFill>
                  <a:srgbClr val="114330"/>
                </a:solidFill>
                <a:latin typeface="Montserrat" pitchFamily="2" charset="77"/>
              </a:rPr>
              <a:t>Bullet points:</a:t>
            </a:r>
          </a:p>
        </p:txBody>
      </p:sp>
    </p:spTree>
    <p:extLst>
      <p:ext uri="{BB962C8B-B14F-4D97-AF65-F5344CB8AC3E}">
        <p14:creationId xmlns:p14="http://schemas.microsoft.com/office/powerpoint/2010/main" val="5919787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418447" y="-184455"/>
            <a:ext cx="12966262" cy="10655910"/>
          </a:xfrm>
          <a:custGeom>
            <a:avLst/>
            <a:gdLst/>
            <a:ahLst/>
            <a:cxnLst/>
            <a:rect l="l" t="t" r="r" b="b"/>
            <a:pathLst>
              <a:path w="12966262" h="10655910">
                <a:moveTo>
                  <a:pt x="0" y="0"/>
                </a:moveTo>
                <a:lnTo>
                  <a:pt x="12966262" y="0"/>
                </a:lnTo>
                <a:lnTo>
                  <a:pt x="12966262" y="10655910"/>
                </a:lnTo>
                <a:lnTo>
                  <a:pt x="0" y="1065591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TextBox 4"/>
          <p:cNvSpPr txBox="1"/>
          <p:nvPr/>
        </p:nvSpPr>
        <p:spPr>
          <a:xfrm>
            <a:off x="1456903" y="4988583"/>
            <a:ext cx="6696497" cy="3631763"/>
          </a:xfrm>
          <a:prstGeom prst="rect">
            <a:avLst/>
          </a:prstGeom>
        </p:spPr>
        <p:txBody>
          <a:bodyPr wrap="square" lIns="0" tIns="0" rIns="0" bIns="0" rtlCol="0" anchor="t">
            <a:spAutoFit/>
          </a:bodyPr>
          <a:lstStyle/>
          <a:p>
            <a:endParaRPr lang="en-US" dirty="0"/>
          </a:p>
          <a:p>
            <a:pPr marL="342900" lvl="0" indent="-342900">
              <a:buFont typeface="Arial" panose="020B0604020202020204" pitchFamily="34" charset="0"/>
              <a:buChar char="•"/>
            </a:pPr>
            <a:r>
              <a:rPr lang="en-US" sz="2500" b="1" dirty="0">
                <a:solidFill>
                  <a:srgbClr val="114330"/>
                </a:solidFill>
                <a:latin typeface="Montserrat" pitchFamily="2" charset="77"/>
              </a:rPr>
              <a:t>Set a realistic and achievable funding  goal</a:t>
            </a:r>
          </a:p>
          <a:p>
            <a:pPr marL="342900" lvl="0" indent="-342900">
              <a:buFont typeface="Arial" panose="020B0604020202020204" pitchFamily="34" charset="0"/>
              <a:buChar char="•"/>
            </a:pPr>
            <a:r>
              <a:rPr lang="en-US" sz="2500" b="1" dirty="0">
                <a:solidFill>
                  <a:srgbClr val="114330"/>
                </a:solidFill>
                <a:latin typeface="Montserrat" pitchFamily="2" charset="77"/>
              </a:rPr>
              <a:t>Select high-performance categories when possible</a:t>
            </a:r>
          </a:p>
          <a:p>
            <a:pPr marL="342900" indent="-342900">
              <a:buFont typeface="Arial" panose="020B0604020202020204" pitchFamily="34" charset="0"/>
              <a:buChar char="•"/>
            </a:pPr>
            <a:r>
              <a:rPr lang="en-US" sz="2500" b="1" dirty="0">
                <a:solidFill>
                  <a:srgbClr val="114330"/>
                </a:solidFill>
                <a:latin typeface="Montserrat" pitchFamily="2" charset="77"/>
              </a:rPr>
              <a:t>Engage your community early to build momentum before launch.</a:t>
            </a:r>
          </a:p>
          <a:p>
            <a:pPr marL="342900" indent="-342900">
              <a:buFont typeface="Arial" panose="020B0604020202020204" pitchFamily="34" charset="0"/>
              <a:buChar char="•"/>
            </a:pPr>
            <a:r>
              <a:rPr lang="en-US" sz="2500" b="1" dirty="0">
                <a:solidFill>
                  <a:srgbClr val="114330"/>
                </a:solidFill>
                <a:latin typeface="Montserrat" pitchFamily="2" charset="77"/>
              </a:rPr>
              <a:t>Launch campaigns during high-activity months to maximize visibility.</a:t>
            </a:r>
          </a:p>
          <a:p>
            <a:pPr marL="342900" lvl="0" indent="-342900">
              <a:buFont typeface="Arial" panose="020B0604020202020204" pitchFamily="34" charset="0"/>
              <a:buChar char="•"/>
            </a:pPr>
            <a:endParaRPr lang="en-US" dirty="0"/>
          </a:p>
        </p:txBody>
      </p:sp>
      <p:sp>
        <p:nvSpPr>
          <p:cNvPr id="5" name="TextBox 5"/>
          <p:cNvSpPr txBox="1"/>
          <p:nvPr/>
        </p:nvSpPr>
        <p:spPr>
          <a:xfrm>
            <a:off x="1028700" y="2901877"/>
            <a:ext cx="7124700" cy="833562"/>
          </a:xfrm>
          <a:prstGeom prst="rect">
            <a:avLst/>
          </a:prstGeom>
        </p:spPr>
        <p:txBody>
          <a:bodyPr wrap="square" lIns="0" tIns="0" rIns="0" bIns="0" rtlCol="0" anchor="t">
            <a:spAutoFit/>
          </a:bodyPr>
          <a:lstStyle/>
          <a:p>
            <a:pPr algn="l">
              <a:lnSpc>
                <a:spcPts val="6496"/>
              </a:lnSpc>
            </a:pPr>
            <a:r>
              <a:rPr lang="en-US" sz="5600" b="1" dirty="0">
                <a:solidFill>
                  <a:srgbClr val="174143"/>
                </a:solidFill>
                <a:latin typeface="Montserrat Bold"/>
                <a:ea typeface="Montserrat Bold"/>
                <a:cs typeface="Montserrat Bold"/>
                <a:sym typeface="Montserrat Bold"/>
              </a:rPr>
              <a:t>Recommendations</a:t>
            </a:r>
          </a:p>
        </p:txBody>
      </p:sp>
      <p:sp>
        <p:nvSpPr>
          <p:cNvPr id="8" name="TextBox 7">
            <a:extLst>
              <a:ext uri="{FF2B5EF4-FFF2-40B4-BE49-F238E27FC236}">
                <a16:creationId xmlns:a16="http://schemas.microsoft.com/office/drawing/2014/main" id="{F388F605-4C19-7B2A-1B36-21D28C2EC7D4}"/>
              </a:ext>
            </a:extLst>
          </p:cNvPr>
          <p:cNvSpPr txBox="1"/>
          <p:nvPr/>
        </p:nvSpPr>
        <p:spPr>
          <a:xfrm>
            <a:off x="6547104" y="4206240"/>
            <a:ext cx="184731" cy="369332"/>
          </a:xfrm>
          <a:prstGeom prst="rect">
            <a:avLst/>
          </a:prstGeom>
          <a:noFill/>
        </p:spPr>
        <p:txBody>
          <a:bodyPr wrap="none" rtlCol="0">
            <a:spAutoFit/>
          </a:bodyPr>
          <a:lstStyle/>
          <a:p>
            <a:endParaRPr lang="en-US" dirty="0"/>
          </a:p>
        </p:txBody>
      </p:sp>
      <p:sp>
        <p:nvSpPr>
          <p:cNvPr id="10" name="TextBox 9">
            <a:extLst>
              <a:ext uri="{FF2B5EF4-FFF2-40B4-BE49-F238E27FC236}">
                <a16:creationId xmlns:a16="http://schemas.microsoft.com/office/drawing/2014/main" id="{A0B8C4A5-6F52-42CC-E8F1-2C172EFA7590}"/>
              </a:ext>
            </a:extLst>
          </p:cNvPr>
          <p:cNvSpPr txBox="1"/>
          <p:nvPr/>
        </p:nvSpPr>
        <p:spPr>
          <a:xfrm>
            <a:off x="979383" y="4153138"/>
            <a:ext cx="10190480" cy="523220"/>
          </a:xfrm>
          <a:prstGeom prst="rect">
            <a:avLst/>
          </a:prstGeom>
          <a:noFill/>
        </p:spPr>
        <p:txBody>
          <a:bodyPr wrap="square">
            <a:spAutoFit/>
          </a:bodyPr>
          <a:lstStyle/>
          <a:p>
            <a:r>
              <a:rPr lang="en-US" sz="2800" b="1" dirty="0">
                <a:solidFill>
                  <a:srgbClr val="114330"/>
                </a:solidFill>
                <a:latin typeface="Montserrat" pitchFamily="2" charset="77"/>
              </a:rPr>
              <a:t>To improve chances of success: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3" name="TextBox 3"/>
          <p:cNvSpPr txBox="1"/>
          <p:nvPr/>
        </p:nvSpPr>
        <p:spPr>
          <a:xfrm>
            <a:off x="3581808" y="4539431"/>
            <a:ext cx="11124383" cy="1923604"/>
          </a:xfrm>
          <a:prstGeom prst="rect">
            <a:avLst/>
          </a:prstGeom>
        </p:spPr>
        <p:txBody>
          <a:bodyPr lIns="0" tIns="0" rIns="0" bIns="0" rtlCol="0" anchor="t">
            <a:spAutoFit/>
          </a:bodyPr>
          <a:lstStyle/>
          <a:p>
            <a:r>
              <a:rPr lang="en-US" sz="2500" b="1" dirty="0">
                <a:solidFill>
                  <a:srgbClr val="F5E5E1"/>
                </a:solidFill>
                <a:latin typeface="Montserrat" pitchFamily="2" charset="77"/>
              </a:rPr>
              <a:t>In summary, Kickstarter success depends heavily on category, timing, and setting a reasonable goal.</a:t>
            </a:r>
          </a:p>
          <a:p>
            <a:endParaRPr lang="en-US" sz="2500" b="1" dirty="0">
              <a:solidFill>
                <a:srgbClr val="F5E5E1"/>
              </a:solidFill>
              <a:latin typeface="Montserrat" pitchFamily="2" charset="77"/>
            </a:endParaRPr>
          </a:p>
          <a:p>
            <a:r>
              <a:rPr lang="en-US" sz="2500" b="1" dirty="0">
                <a:solidFill>
                  <a:srgbClr val="F5E5E1"/>
                </a:solidFill>
                <a:latin typeface="Montserrat" pitchFamily="2" charset="77"/>
              </a:rPr>
              <a:t>These insights help creators launch more strategic projects and increase their chances of success.”</a:t>
            </a:r>
          </a:p>
        </p:txBody>
      </p:sp>
      <p:sp>
        <p:nvSpPr>
          <p:cNvPr id="4" name="Freeform 4"/>
          <p:cNvSpPr/>
          <p:nvPr/>
        </p:nvSpPr>
        <p:spPr>
          <a:xfrm rot="405012">
            <a:off x="-4924453" y="4228012"/>
            <a:ext cx="8479022" cy="8479022"/>
          </a:xfrm>
          <a:custGeom>
            <a:avLst/>
            <a:gdLst/>
            <a:ahLst/>
            <a:cxnLst/>
            <a:rect l="l" t="t" r="r" b="b"/>
            <a:pathLst>
              <a:path w="8479022" h="8479022">
                <a:moveTo>
                  <a:pt x="0" y="0"/>
                </a:moveTo>
                <a:lnTo>
                  <a:pt x="8479021" y="0"/>
                </a:lnTo>
                <a:lnTo>
                  <a:pt x="8479021" y="8479021"/>
                </a:lnTo>
                <a:lnTo>
                  <a:pt x="0" y="847902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rot="-608242">
            <a:off x="15337766" y="1366802"/>
            <a:ext cx="6113463" cy="6113463"/>
          </a:xfrm>
          <a:custGeom>
            <a:avLst/>
            <a:gdLst/>
            <a:ahLst/>
            <a:cxnLst/>
            <a:rect l="l" t="t" r="r" b="b"/>
            <a:pathLst>
              <a:path w="6113463" h="6113463">
                <a:moveTo>
                  <a:pt x="0" y="0"/>
                </a:moveTo>
                <a:lnTo>
                  <a:pt x="6113463" y="0"/>
                </a:lnTo>
                <a:lnTo>
                  <a:pt x="6113463" y="6113463"/>
                </a:lnTo>
                <a:lnTo>
                  <a:pt x="0" y="611346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TextBox 6"/>
          <p:cNvSpPr txBox="1"/>
          <p:nvPr/>
        </p:nvSpPr>
        <p:spPr>
          <a:xfrm>
            <a:off x="4776683" y="2676642"/>
            <a:ext cx="8734634" cy="819023"/>
          </a:xfrm>
          <a:prstGeom prst="rect">
            <a:avLst/>
          </a:prstGeom>
        </p:spPr>
        <p:txBody>
          <a:bodyPr lIns="0" tIns="0" rIns="0" bIns="0" rtlCol="0" anchor="t">
            <a:spAutoFit/>
          </a:bodyPr>
          <a:lstStyle/>
          <a:p>
            <a:pPr algn="ctr">
              <a:lnSpc>
                <a:spcPts val="6496"/>
              </a:lnSpc>
            </a:pPr>
            <a:r>
              <a:rPr lang="en-US" sz="5600" b="1">
                <a:solidFill>
                  <a:srgbClr val="F5E5E1"/>
                </a:solidFill>
                <a:latin typeface="Montserrat Bold"/>
                <a:ea typeface="Montserrat Bold"/>
                <a:cs typeface="Montserrat Bold"/>
                <a:sym typeface="Montserrat Bold"/>
              </a:rPr>
              <a:t>CONCLUSION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2" name="Freeform 2"/>
          <p:cNvSpPr/>
          <p:nvPr/>
        </p:nvSpPr>
        <p:spPr>
          <a:xfrm flipV="1">
            <a:off x="-2489528" y="-768331"/>
            <a:ext cx="8389173" cy="11064856"/>
          </a:xfrm>
          <a:custGeom>
            <a:avLst/>
            <a:gdLst/>
            <a:ahLst/>
            <a:cxnLst/>
            <a:rect l="l" t="t" r="r" b="b"/>
            <a:pathLst>
              <a:path w="8389173" h="11064856">
                <a:moveTo>
                  <a:pt x="0" y="11064856"/>
                </a:moveTo>
                <a:lnTo>
                  <a:pt x="8389173" y="11064856"/>
                </a:lnTo>
                <a:lnTo>
                  <a:pt x="8389173" y="0"/>
                </a:lnTo>
                <a:lnTo>
                  <a:pt x="0" y="0"/>
                </a:lnTo>
                <a:lnTo>
                  <a:pt x="0" y="11064856"/>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12388356" y="-777856"/>
            <a:ext cx="8389173" cy="11064856"/>
          </a:xfrm>
          <a:custGeom>
            <a:avLst/>
            <a:gdLst/>
            <a:ahLst/>
            <a:cxnLst/>
            <a:rect l="l" t="t" r="r" b="b"/>
            <a:pathLst>
              <a:path w="8389173" h="11064856">
                <a:moveTo>
                  <a:pt x="0" y="0"/>
                </a:moveTo>
                <a:lnTo>
                  <a:pt x="8389173" y="0"/>
                </a:lnTo>
                <a:lnTo>
                  <a:pt x="8389173" y="11064856"/>
                </a:lnTo>
                <a:lnTo>
                  <a:pt x="0" y="1106485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TextBox 5"/>
          <p:cNvSpPr txBox="1"/>
          <p:nvPr/>
        </p:nvSpPr>
        <p:spPr>
          <a:xfrm>
            <a:off x="3787284" y="2741898"/>
            <a:ext cx="10713431" cy="2538568"/>
          </a:xfrm>
          <a:prstGeom prst="rect">
            <a:avLst/>
          </a:prstGeom>
        </p:spPr>
        <p:txBody>
          <a:bodyPr lIns="0" tIns="0" rIns="0" bIns="0" rtlCol="0" anchor="t">
            <a:spAutoFit/>
          </a:bodyPr>
          <a:lstStyle/>
          <a:p>
            <a:pPr algn="ctr">
              <a:lnSpc>
                <a:spcPts val="20795"/>
              </a:lnSpc>
              <a:spcBef>
                <a:spcPct val="0"/>
              </a:spcBef>
            </a:pPr>
            <a:r>
              <a:rPr lang="en-US" sz="14853" b="1">
                <a:solidFill>
                  <a:srgbClr val="F5E5E1"/>
                </a:solidFill>
                <a:latin typeface="Montserrat Bold"/>
                <a:ea typeface="Montserrat Bold"/>
                <a:cs typeface="Montserrat Bold"/>
                <a:sym typeface="Montserrat Bold"/>
              </a:rPr>
              <a:t>THANK</a:t>
            </a:r>
          </a:p>
        </p:txBody>
      </p:sp>
      <p:sp>
        <p:nvSpPr>
          <p:cNvPr id="6" name="TextBox 6"/>
          <p:cNvSpPr txBox="1"/>
          <p:nvPr/>
        </p:nvSpPr>
        <p:spPr>
          <a:xfrm>
            <a:off x="3787284" y="4735413"/>
            <a:ext cx="10713431" cy="2538568"/>
          </a:xfrm>
          <a:prstGeom prst="rect">
            <a:avLst/>
          </a:prstGeom>
        </p:spPr>
        <p:txBody>
          <a:bodyPr lIns="0" tIns="0" rIns="0" bIns="0" rtlCol="0" anchor="t">
            <a:spAutoFit/>
          </a:bodyPr>
          <a:lstStyle/>
          <a:p>
            <a:pPr algn="ctr">
              <a:lnSpc>
                <a:spcPts val="20795"/>
              </a:lnSpc>
              <a:spcBef>
                <a:spcPct val="0"/>
              </a:spcBef>
            </a:pPr>
            <a:r>
              <a:rPr lang="en-US" sz="14853" b="1">
                <a:solidFill>
                  <a:srgbClr val="F5E5E1"/>
                </a:solidFill>
                <a:latin typeface="Montserrat Bold"/>
                <a:ea typeface="Montserrat Bold"/>
                <a:cs typeface="Montserrat Bold"/>
                <a:sym typeface="Montserrat Bold"/>
              </a:rPr>
              <a:t>YOU</a:t>
            </a:r>
          </a:p>
        </p:txBody>
      </p:sp>
      <p:sp>
        <p:nvSpPr>
          <p:cNvPr id="8" name="TextBox 8"/>
          <p:cNvSpPr txBox="1"/>
          <p:nvPr/>
        </p:nvSpPr>
        <p:spPr>
          <a:xfrm>
            <a:off x="12349536" y="981075"/>
            <a:ext cx="4909764" cy="389255"/>
          </a:xfrm>
          <a:prstGeom prst="rect">
            <a:avLst/>
          </a:prstGeom>
        </p:spPr>
        <p:txBody>
          <a:bodyPr lIns="0" tIns="0" rIns="0" bIns="0" rtlCol="0" anchor="t">
            <a:spAutoFit/>
          </a:bodyPr>
          <a:lstStyle/>
          <a:p>
            <a:pPr algn="r">
              <a:lnSpc>
                <a:spcPts val="3220"/>
              </a:lnSpc>
              <a:spcBef>
                <a:spcPct val="0"/>
              </a:spcBef>
            </a:pPr>
            <a:r>
              <a:rPr lang="en-US" sz="2300">
                <a:solidFill>
                  <a:srgbClr val="F5E5E1"/>
                </a:solidFill>
                <a:latin typeface="Montserrat"/>
                <a:ea typeface="Montserrat"/>
                <a:cs typeface="Montserrat"/>
                <a:sym typeface="Montserrat"/>
              </a:rPr>
              <a:t>Presented By :</a:t>
            </a:r>
          </a:p>
        </p:txBody>
      </p:sp>
      <p:sp>
        <p:nvSpPr>
          <p:cNvPr id="9" name="TextBox 9"/>
          <p:cNvSpPr txBox="1"/>
          <p:nvPr/>
        </p:nvSpPr>
        <p:spPr>
          <a:xfrm>
            <a:off x="12349536" y="1472345"/>
            <a:ext cx="4909764" cy="1425647"/>
          </a:xfrm>
          <a:prstGeom prst="rect">
            <a:avLst/>
          </a:prstGeom>
        </p:spPr>
        <p:txBody>
          <a:bodyPr lIns="0" tIns="0" rIns="0" bIns="0" rtlCol="0" anchor="t">
            <a:spAutoFit/>
          </a:bodyPr>
          <a:lstStyle/>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Emna Zayani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Timothy Ajayi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Viktor Yudin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4332</TotalTime>
  <Words>631</Words>
  <Application>Microsoft Macintosh PowerPoint</Application>
  <PresentationFormat>Custom</PresentationFormat>
  <Paragraphs>68</Paragraphs>
  <Slides>14</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Montserrat Semi-Bold</vt:lpstr>
      <vt:lpstr>Aptos</vt:lpstr>
      <vt:lpstr>Calibri</vt:lpstr>
      <vt:lpstr>Montserrat</vt:lpstr>
      <vt:lpstr>Montserrat Medium</vt:lpstr>
      <vt:lpstr>Montserrat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Teal and White Abstract Geometric Business Webinar Presentation</dc:title>
  <cp:lastModifiedBy>Sina Fischer</cp:lastModifiedBy>
  <cp:revision>5</cp:revision>
  <dcterms:created xsi:type="dcterms:W3CDTF">2006-08-16T00:00:00Z</dcterms:created>
  <dcterms:modified xsi:type="dcterms:W3CDTF">2026-02-02T15:45:40Z</dcterms:modified>
  <dc:identifier>DAG_4q6pR58</dc:identifier>
</cp:coreProperties>
</file>