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60" r:id="rId5"/>
    <p:sldId id="259" r:id="rId6"/>
    <p:sldId id="267" r:id="rId7"/>
    <p:sldId id="268" r:id="rId8"/>
    <p:sldId id="269" r:id="rId9"/>
    <p:sldId id="273" r:id="rId10"/>
    <p:sldId id="271" r:id="rId11"/>
    <p:sldId id="270" r:id="rId12"/>
    <p:sldId id="263" r:id="rId13"/>
    <p:sldId id="264" r:id="rId14"/>
    <p:sldId id="266" r:id="rId15"/>
  </p:sldIdLst>
  <p:sldSz cx="18288000" cy="10287000"/>
  <p:notesSz cx="6858000" cy="9144000"/>
  <p:embeddedFontLst>
    <p:embeddedFont>
      <p:font typeface="Montserrat" pitchFamily="2" charset="77"/>
      <p:regular r:id="rId17"/>
      <p:bold r:id="rId18"/>
      <p:italic r:id="rId19"/>
      <p:boldItalic r:id="rId20"/>
    </p:embeddedFont>
    <p:embeddedFont>
      <p:font typeface="Montserrat Bold" pitchFamily="2" charset="77"/>
      <p:regular r:id="rId21"/>
      <p:bold r:id="rId22"/>
    </p:embeddedFont>
    <p:embeddedFont>
      <p:font typeface="Montserrat Medium" panose="00000600000000000000" pitchFamily="2" charset="77"/>
      <p:regular r:id="rId23"/>
    </p:embeddedFont>
    <p:embeddedFont>
      <p:font typeface="Montserrat Semi-Bold" pitchFamily="2" charset="77"/>
      <p:regular r:id="rId24"/>
      <p:bold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4330"/>
    <a:srgbClr val="F5E5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8" autoAdjust="0"/>
    <p:restoredTop sz="94621" autoAdjust="0"/>
  </p:normalViewPr>
  <p:slideViewPr>
    <p:cSldViewPr>
      <p:cViewPr varScale="1">
        <p:scale>
          <a:sx n="63" d="100"/>
          <a:sy n="63" d="100"/>
        </p:scale>
        <p:origin x="224" y="7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A4C630-78AB-A64F-9D51-4F1EE13A4406}" type="datetimeFigureOut">
              <a:rPr lang="en-US" smtClean="0"/>
              <a:t>1/30/26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5C2D7-9E94-2045-8E24-80DD133EE3A9}" type="slidenum">
              <a:rPr lang="en-US" smtClean="0"/>
              <a:t>‹#›</a:t>
            </a:fld>
            <a:endParaRPr lang="en-US"/>
          </a:p>
        </p:txBody>
      </p:sp>
    </p:spTree>
    <p:extLst>
      <p:ext uri="{BB962C8B-B14F-4D97-AF65-F5344CB8AC3E}">
        <p14:creationId xmlns:p14="http://schemas.microsoft.com/office/powerpoint/2010/main" val="2432687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1</a:t>
            </a:fld>
            <a:endParaRPr lang="en-US"/>
          </a:p>
        </p:txBody>
      </p:sp>
    </p:spTree>
    <p:extLst>
      <p:ext uri="{BB962C8B-B14F-4D97-AF65-F5344CB8AC3E}">
        <p14:creationId xmlns:p14="http://schemas.microsoft.com/office/powerpoint/2010/main" val="2391423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12</a:t>
            </a:fld>
            <a:endParaRPr lang="en-US"/>
          </a:p>
        </p:txBody>
      </p:sp>
    </p:spTree>
    <p:extLst>
      <p:ext uri="{BB962C8B-B14F-4D97-AF65-F5344CB8AC3E}">
        <p14:creationId xmlns:p14="http://schemas.microsoft.com/office/powerpoint/2010/main" val="1486317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4143"/>
        </a:solidFill>
        <a:effectLst/>
      </p:bgPr>
    </p:bg>
    <p:spTree>
      <p:nvGrpSpPr>
        <p:cNvPr id="1" name=""/>
        <p:cNvGrpSpPr/>
        <p:nvPr/>
      </p:nvGrpSpPr>
      <p:grpSpPr>
        <a:xfrm>
          <a:off x="0" y="0"/>
          <a:ext cx="0" cy="0"/>
          <a:chOff x="0" y="0"/>
          <a:chExt cx="0" cy="0"/>
        </a:xfrm>
      </p:grpSpPr>
      <p:sp>
        <p:nvSpPr>
          <p:cNvPr id="2" name="Freeform 2"/>
          <p:cNvSpPr/>
          <p:nvPr/>
        </p:nvSpPr>
        <p:spPr>
          <a:xfrm flipV="1">
            <a:off x="7012622" y="-571500"/>
            <a:ext cx="8389173" cy="11064856"/>
          </a:xfrm>
          <a:custGeom>
            <a:avLst/>
            <a:gdLst/>
            <a:ahLst/>
            <a:cxnLst/>
            <a:rect l="l" t="t" r="r" b="b"/>
            <a:pathLst>
              <a:path w="8389173" h="11064856">
                <a:moveTo>
                  <a:pt x="0" y="11064856"/>
                </a:moveTo>
                <a:lnTo>
                  <a:pt x="8389173" y="11064856"/>
                </a:lnTo>
                <a:lnTo>
                  <a:pt x="8389173" y="0"/>
                </a:lnTo>
                <a:lnTo>
                  <a:pt x="0" y="0"/>
                </a:lnTo>
                <a:lnTo>
                  <a:pt x="0" y="11064856"/>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1979812" y="-388928"/>
            <a:ext cx="8389173" cy="11064856"/>
          </a:xfrm>
          <a:custGeom>
            <a:avLst/>
            <a:gdLst/>
            <a:ahLst/>
            <a:cxnLst/>
            <a:rect l="l" t="t" r="r" b="b"/>
            <a:pathLst>
              <a:path w="8389173" h="11064856">
                <a:moveTo>
                  <a:pt x="0" y="0"/>
                </a:moveTo>
                <a:lnTo>
                  <a:pt x="8389173" y="0"/>
                </a:lnTo>
                <a:lnTo>
                  <a:pt x="8389173" y="11064856"/>
                </a:lnTo>
                <a:lnTo>
                  <a:pt x="0" y="110648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5" name="TextBox 5"/>
          <p:cNvSpPr txBox="1"/>
          <p:nvPr/>
        </p:nvSpPr>
        <p:spPr>
          <a:xfrm>
            <a:off x="1028700" y="2799485"/>
            <a:ext cx="9449435" cy="1955087"/>
          </a:xfrm>
          <a:prstGeom prst="rect">
            <a:avLst/>
          </a:prstGeom>
        </p:spPr>
        <p:txBody>
          <a:bodyPr lIns="0" tIns="0" rIns="0" bIns="0" rtlCol="0" anchor="t">
            <a:spAutoFit/>
          </a:bodyPr>
          <a:lstStyle/>
          <a:p>
            <a:pPr algn="l">
              <a:lnSpc>
                <a:spcPts val="17033"/>
              </a:lnSpc>
              <a:spcBef>
                <a:spcPct val="0"/>
              </a:spcBef>
            </a:pPr>
            <a:r>
              <a:rPr lang="en-US" sz="10100" b="1" dirty="0">
                <a:solidFill>
                  <a:srgbClr val="F5E5E1"/>
                </a:solidFill>
                <a:latin typeface="Montserrat Bold"/>
                <a:ea typeface="Montserrat Bold"/>
                <a:cs typeface="Montserrat Bold"/>
                <a:sym typeface="Montserrat Bold"/>
              </a:rPr>
              <a:t>Kickstarter</a:t>
            </a:r>
          </a:p>
        </p:txBody>
      </p:sp>
      <p:sp>
        <p:nvSpPr>
          <p:cNvPr id="6" name="TextBox 6"/>
          <p:cNvSpPr txBox="1"/>
          <p:nvPr/>
        </p:nvSpPr>
        <p:spPr>
          <a:xfrm>
            <a:off x="1028700" y="4186539"/>
            <a:ext cx="10248900" cy="1913922"/>
          </a:xfrm>
          <a:prstGeom prst="rect">
            <a:avLst/>
          </a:prstGeom>
        </p:spPr>
        <p:txBody>
          <a:bodyPr wrap="square" lIns="0" tIns="0" rIns="0" bIns="0" rtlCol="0" anchor="t">
            <a:spAutoFit/>
          </a:bodyPr>
          <a:lstStyle/>
          <a:p>
            <a:pPr algn="l">
              <a:lnSpc>
                <a:spcPts val="17033"/>
              </a:lnSpc>
              <a:spcBef>
                <a:spcPct val="0"/>
              </a:spcBef>
            </a:pPr>
            <a:r>
              <a:rPr lang="en-US" sz="8800" b="1" dirty="0">
                <a:solidFill>
                  <a:srgbClr val="F5E5E1"/>
                </a:solidFill>
                <a:latin typeface="Montserrat Bold"/>
                <a:ea typeface="Montserrat Bold"/>
                <a:cs typeface="Montserrat Bold"/>
                <a:sym typeface="Montserrat Bold"/>
              </a:rPr>
              <a:t>Project Analysis</a:t>
            </a:r>
          </a:p>
        </p:txBody>
      </p:sp>
      <p:sp>
        <p:nvSpPr>
          <p:cNvPr id="8" name="TextBox 8"/>
          <p:cNvSpPr txBox="1"/>
          <p:nvPr/>
        </p:nvSpPr>
        <p:spPr>
          <a:xfrm>
            <a:off x="12349536" y="981075"/>
            <a:ext cx="4909764" cy="389255"/>
          </a:xfrm>
          <a:prstGeom prst="rect">
            <a:avLst/>
          </a:prstGeom>
        </p:spPr>
        <p:txBody>
          <a:bodyPr lIns="0" tIns="0" rIns="0" bIns="0" rtlCol="0" anchor="t">
            <a:spAutoFit/>
          </a:bodyPr>
          <a:lstStyle/>
          <a:p>
            <a:pPr algn="r">
              <a:lnSpc>
                <a:spcPts val="3220"/>
              </a:lnSpc>
              <a:spcBef>
                <a:spcPct val="0"/>
              </a:spcBef>
            </a:pPr>
            <a:r>
              <a:rPr lang="en-US" sz="2300" dirty="0">
                <a:solidFill>
                  <a:srgbClr val="F5E5E1"/>
                </a:solidFill>
                <a:latin typeface="Montserrat"/>
                <a:ea typeface="Montserrat"/>
                <a:cs typeface="Montserrat"/>
                <a:sym typeface="Montserrat"/>
              </a:rPr>
              <a:t>Presented By :</a:t>
            </a:r>
          </a:p>
        </p:txBody>
      </p:sp>
      <p:sp>
        <p:nvSpPr>
          <p:cNvPr id="9" name="TextBox 9"/>
          <p:cNvSpPr txBox="1"/>
          <p:nvPr/>
        </p:nvSpPr>
        <p:spPr>
          <a:xfrm>
            <a:off x="12349536" y="1472345"/>
            <a:ext cx="4909764" cy="1425647"/>
          </a:xfrm>
          <a:prstGeom prst="rect">
            <a:avLst/>
          </a:prstGeom>
        </p:spPr>
        <p:txBody>
          <a:bodyPr lIns="0" tIns="0" rIns="0" bIns="0" rtlCol="0" anchor="t">
            <a:spAutoFit/>
          </a:bodyPr>
          <a:lstStyle/>
          <a:p>
            <a:pPr algn="r">
              <a:lnSpc>
                <a:spcPts val="3779"/>
              </a:lnSpc>
              <a:spcBef>
                <a:spcPct val="0"/>
              </a:spcBef>
            </a:pPr>
            <a:r>
              <a:rPr lang="en-US" sz="2699" b="1" dirty="0">
                <a:solidFill>
                  <a:srgbClr val="F5E5E1"/>
                </a:solidFill>
                <a:latin typeface="Montserrat Semi-Bold"/>
                <a:ea typeface="Montserrat Semi-Bold"/>
                <a:cs typeface="Montserrat Semi-Bold"/>
                <a:sym typeface="Montserrat Semi-Bold"/>
              </a:rPr>
              <a:t>Emna Zayani</a:t>
            </a:r>
          </a:p>
          <a:p>
            <a:pPr algn="r">
              <a:lnSpc>
                <a:spcPts val="3779"/>
              </a:lnSpc>
              <a:spcBef>
                <a:spcPct val="0"/>
              </a:spcBef>
            </a:pPr>
            <a:r>
              <a:rPr lang="en-US" sz="2699" b="1" dirty="0">
                <a:solidFill>
                  <a:srgbClr val="F5E5E1"/>
                </a:solidFill>
                <a:latin typeface="Montserrat Semi-Bold"/>
                <a:ea typeface="Montserrat Semi-Bold"/>
                <a:cs typeface="Montserrat Semi-Bold"/>
                <a:sym typeface="Montserrat Semi-Bold"/>
              </a:rPr>
              <a:t>Timothy Ajayi</a:t>
            </a:r>
          </a:p>
          <a:p>
            <a:pPr algn="r">
              <a:lnSpc>
                <a:spcPts val="3779"/>
              </a:lnSpc>
              <a:spcBef>
                <a:spcPct val="0"/>
              </a:spcBef>
            </a:pPr>
            <a:r>
              <a:rPr lang="en-US" sz="2699" b="1" dirty="0">
                <a:solidFill>
                  <a:srgbClr val="F5E5E1"/>
                </a:solidFill>
                <a:latin typeface="Montserrat Semi-Bold"/>
                <a:ea typeface="Montserrat Semi-Bold"/>
                <a:cs typeface="Montserrat Semi-Bold"/>
                <a:sym typeface="Montserrat Semi-Bold"/>
              </a:rPr>
              <a:t>Viktor Yudin</a:t>
            </a:r>
          </a:p>
        </p:txBody>
      </p:sp>
      <p:sp>
        <p:nvSpPr>
          <p:cNvPr id="11" name="TextBox 11"/>
          <p:cNvSpPr txBox="1"/>
          <p:nvPr/>
        </p:nvSpPr>
        <p:spPr>
          <a:xfrm>
            <a:off x="838103" y="7920372"/>
            <a:ext cx="15087432" cy="410369"/>
          </a:xfrm>
          <a:prstGeom prst="rect">
            <a:avLst/>
          </a:prstGeom>
        </p:spPr>
        <p:txBody>
          <a:bodyPr wrap="square" lIns="0" tIns="0" rIns="0" bIns="0" rtlCol="0" anchor="t">
            <a:spAutoFit/>
          </a:bodyPr>
          <a:lstStyle/>
          <a:p>
            <a:pPr>
              <a:lnSpc>
                <a:spcPts val="3220"/>
              </a:lnSpc>
              <a:spcBef>
                <a:spcPct val="0"/>
              </a:spcBef>
            </a:pPr>
            <a:r>
              <a:rPr lang="en-US" sz="2800" b="1" dirty="0">
                <a:solidFill>
                  <a:srgbClr val="F5E5E1"/>
                </a:solidFill>
                <a:latin typeface="Montserrat Semi-Bold"/>
                <a:ea typeface="Montserrat Semi-Bold"/>
                <a:cs typeface="Montserrat Semi-Bold"/>
                <a:sym typeface="Montserrat Semi-Bold"/>
              </a:rPr>
              <a:t>A Data-Driven Study of 300,000+ Crowdfunding Campaigns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1410238" y="1363834"/>
            <a:ext cx="8923166" cy="8923166"/>
          </a:xfrm>
          <a:custGeom>
            <a:avLst/>
            <a:gdLst/>
            <a:ahLst/>
            <a:cxnLst/>
            <a:rect l="l" t="t" r="r" b="b"/>
            <a:pathLst>
              <a:path w="8923166" h="8923166">
                <a:moveTo>
                  <a:pt x="0" y="0"/>
                </a:moveTo>
                <a:lnTo>
                  <a:pt x="8923166" y="0"/>
                </a:lnTo>
                <a:lnTo>
                  <a:pt x="8923166" y="8923166"/>
                </a:lnTo>
                <a:lnTo>
                  <a:pt x="0" y="89231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028700" y="2496859"/>
            <a:ext cx="8293267" cy="953135"/>
          </a:xfrm>
          <a:prstGeom prst="rect">
            <a:avLst/>
          </a:prstGeom>
        </p:spPr>
        <p:txBody>
          <a:bodyPr lIns="0" tIns="0" rIns="0" bIns="0" rtlCol="0" anchor="t">
            <a:spAutoFit/>
          </a:bodyPr>
          <a:lstStyle/>
          <a:p>
            <a:pPr algn="l">
              <a:lnSpc>
                <a:spcPts val="7840"/>
              </a:lnSpc>
              <a:spcBef>
                <a:spcPct val="0"/>
              </a:spcBef>
            </a:pPr>
            <a:r>
              <a:rPr lang="en-US" sz="5600" b="1">
                <a:solidFill>
                  <a:srgbClr val="174143"/>
                </a:solidFill>
                <a:latin typeface="Montserrat Bold"/>
                <a:ea typeface="Montserrat Bold"/>
                <a:cs typeface="Montserrat Bold"/>
                <a:sym typeface="Montserrat Bold"/>
              </a:rPr>
              <a:t>INTRODUCTION</a:t>
            </a:r>
          </a:p>
        </p:txBody>
      </p:sp>
      <p:sp>
        <p:nvSpPr>
          <p:cNvPr id="6" name="TextBox 6"/>
          <p:cNvSpPr txBox="1"/>
          <p:nvPr/>
        </p:nvSpPr>
        <p:spPr>
          <a:xfrm>
            <a:off x="1028700" y="8878570"/>
            <a:ext cx="10381538" cy="861774"/>
          </a:xfrm>
          <a:prstGeom prst="rect">
            <a:avLst/>
          </a:prstGeom>
        </p:spPr>
        <p:txBody>
          <a:bodyPr wrap="square" lIns="0" tIns="0" rIns="0" bIns="0" rtlCol="0" anchor="t">
            <a:spAutoFit/>
          </a:bodyPr>
          <a:lstStyle/>
          <a:p>
            <a:r>
              <a:rPr lang="en-US" sz="2800" dirty="0">
                <a:solidFill>
                  <a:srgbClr val="114330"/>
                </a:solidFill>
              </a:rPr>
              <a:t>Today, I’ll walk you through the key factors that drive success on Kickstarter, using insights from thousands of real projects.</a:t>
            </a:r>
          </a:p>
        </p:txBody>
      </p:sp>
      <p:sp>
        <p:nvSpPr>
          <p:cNvPr id="7" name="TextBox 7"/>
          <p:cNvSpPr txBox="1"/>
          <p:nvPr/>
        </p:nvSpPr>
        <p:spPr>
          <a:xfrm>
            <a:off x="1028700" y="3936588"/>
            <a:ext cx="9996148" cy="2660024"/>
          </a:xfrm>
          <a:prstGeom prst="rect">
            <a:avLst/>
          </a:prstGeom>
        </p:spPr>
        <p:txBody>
          <a:bodyPr lIns="0" tIns="0" rIns="0" bIns="0" rtlCol="0" anchor="t">
            <a:spAutoFit/>
          </a:bodyPr>
          <a:lstStyle/>
          <a:p>
            <a:pPr algn="just">
              <a:lnSpc>
                <a:spcPts val="3499"/>
              </a:lnSpc>
              <a:spcBef>
                <a:spcPct val="0"/>
              </a:spcBef>
            </a:pPr>
            <a:r>
              <a:rPr lang="en-US" sz="2500" b="1" dirty="0">
                <a:solidFill>
                  <a:srgbClr val="114330"/>
                </a:solidFill>
                <a:latin typeface="Montserrat" pitchFamily="2" charset="77"/>
              </a:rPr>
              <a:t>Kickstarter is a popular crowdfunding platform that has helped thousands of entrepreneurs and creators bring their innovative ideas to life. However, not all Kickstarter projects are successful, and understanding the factors that contribute to success or failure can be valuable for both creators and investors alike.</a:t>
            </a:r>
            <a:endParaRPr lang="en-US" sz="2500" b="1" dirty="0">
              <a:solidFill>
                <a:srgbClr val="114330"/>
              </a:solidFill>
              <a:latin typeface="Montserrat" pitchFamily="2" charset="77"/>
              <a:ea typeface="Montserrat Medium"/>
              <a:cs typeface="Montserrat Medium"/>
              <a:sym typeface="Montserra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4143"/>
        </a:solidFill>
        <a:effectLst/>
      </p:bgPr>
    </p:bg>
    <p:spTree>
      <p:nvGrpSpPr>
        <p:cNvPr id="1" name=""/>
        <p:cNvGrpSpPr/>
        <p:nvPr/>
      </p:nvGrpSpPr>
      <p:grpSpPr>
        <a:xfrm>
          <a:off x="0" y="0"/>
          <a:ext cx="0" cy="0"/>
          <a:chOff x="0" y="0"/>
          <a:chExt cx="0" cy="0"/>
        </a:xfrm>
      </p:grpSpPr>
      <p:sp>
        <p:nvSpPr>
          <p:cNvPr id="3" name="Freeform 3"/>
          <p:cNvSpPr/>
          <p:nvPr/>
        </p:nvSpPr>
        <p:spPr>
          <a:xfrm>
            <a:off x="10843953" y="-1028700"/>
            <a:ext cx="6415347" cy="10287000"/>
          </a:xfrm>
          <a:custGeom>
            <a:avLst/>
            <a:gdLst/>
            <a:ahLst/>
            <a:cxnLst/>
            <a:rect l="l" t="t" r="r" b="b"/>
            <a:pathLst>
              <a:path w="6415347" h="10287000">
                <a:moveTo>
                  <a:pt x="0" y="0"/>
                </a:moveTo>
                <a:lnTo>
                  <a:pt x="6415347" y="0"/>
                </a:lnTo>
                <a:lnTo>
                  <a:pt x="6415347"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1773723" y="4506202"/>
            <a:ext cx="4555807" cy="4555807"/>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t="-16425" b="-16425"/>
              </a:stretch>
            </a:blipFill>
          </p:spPr>
          <p:txBody>
            <a:bodyPr/>
            <a:lstStyle/>
            <a:p>
              <a:endParaRPr lang="en-US"/>
            </a:p>
          </p:txBody>
        </p:sp>
      </p:grpSp>
      <p:sp>
        <p:nvSpPr>
          <p:cNvPr id="6" name="TextBox 6"/>
          <p:cNvSpPr txBox="1"/>
          <p:nvPr/>
        </p:nvSpPr>
        <p:spPr>
          <a:xfrm>
            <a:off x="1046988" y="4605009"/>
            <a:ext cx="8972210" cy="2693045"/>
          </a:xfrm>
          <a:prstGeom prst="rect">
            <a:avLst/>
          </a:prstGeom>
        </p:spPr>
        <p:txBody>
          <a:bodyPr wrap="square" lIns="0" tIns="0" rIns="0" bIns="0" rtlCol="0" anchor="t">
            <a:spAutoFit/>
          </a:bodyPr>
          <a:lstStyle/>
          <a:p>
            <a:pPr marL="342900" lvl="0" indent="-342900">
              <a:buFont typeface="Arial" panose="020B0604020202020204" pitchFamily="34" charset="0"/>
              <a:buChar char="•"/>
            </a:pPr>
            <a:r>
              <a:rPr lang="en-US" sz="2500" b="1" dirty="0">
                <a:solidFill>
                  <a:srgbClr val="F5E5E1"/>
                </a:solidFill>
              </a:rPr>
              <a:t>U</a:t>
            </a:r>
            <a:r>
              <a:rPr lang="en-US" sz="2500" b="1" dirty="0">
                <a:solidFill>
                  <a:srgbClr val="F5E5E1"/>
                </a:solidFill>
                <a:latin typeface="Montserrat" pitchFamily="2" charset="77"/>
              </a:rPr>
              <a:t>nderstanding which factors lead a Kickstarter project to success</a:t>
            </a:r>
          </a:p>
          <a:p>
            <a:pPr marL="342900" lvl="0" indent="-342900">
              <a:buFont typeface="Arial" panose="020B0604020202020204" pitchFamily="34" charset="0"/>
              <a:buChar char="•"/>
            </a:pPr>
            <a:endParaRPr lang="en-US" sz="2500" b="1" dirty="0">
              <a:solidFill>
                <a:srgbClr val="F5E5E1"/>
              </a:solidFill>
              <a:latin typeface="Montserrat" pitchFamily="2" charset="77"/>
            </a:endParaRPr>
          </a:p>
          <a:p>
            <a:pPr marL="342900" lvl="0" indent="-342900">
              <a:buFont typeface="Arial" panose="020B0604020202020204" pitchFamily="34" charset="0"/>
              <a:buChar char="•"/>
            </a:pPr>
            <a:r>
              <a:rPr lang="en-US" sz="2500" b="1" dirty="0">
                <a:solidFill>
                  <a:srgbClr val="F5E5E1"/>
                </a:solidFill>
                <a:latin typeface="Montserrat" pitchFamily="2" charset="77"/>
              </a:rPr>
              <a:t>Identify patterns behind failures</a:t>
            </a:r>
          </a:p>
          <a:p>
            <a:pPr marL="342900" lvl="0" indent="-342900">
              <a:buFont typeface="Arial" panose="020B0604020202020204" pitchFamily="34" charset="0"/>
              <a:buChar char="•"/>
            </a:pPr>
            <a:endParaRPr lang="en-US" sz="2500" b="1" dirty="0">
              <a:solidFill>
                <a:srgbClr val="F5E5E1"/>
              </a:solidFill>
              <a:latin typeface="Montserrat" pitchFamily="2" charset="77"/>
            </a:endParaRPr>
          </a:p>
          <a:p>
            <a:pPr marL="342900" lvl="0" indent="-342900">
              <a:buFont typeface="Arial" panose="020B0604020202020204" pitchFamily="34" charset="0"/>
              <a:buChar char="•"/>
            </a:pPr>
            <a:r>
              <a:rPr lang="en-US" sz="2500" b="1" dirty="0">
                <a:solidFill>
                  <a:srgbClr val="F5E5E1"/>
                </a:solidFill>
                <a:latin typeface="Montserrat" pitchFamily="2" charset="77"/>
              </a:rPr>
              <a:t>Build simple guidelines which creators can use to improve chances of success</a:t>
            </a:r>
          </a:p>
        </p:txBody>
      </p:sp>
      <p:sp>
        <p:nvSpPr>
          <p:cNvPr id="8" name="TextBox 8"/>
          <p:cNvSpPr txBox="1"/>
          <p:nvPr/>
        </p:nvSpPr>
        <p:spPr>
          <a:xfrm>
            <a:off x="1028700" y="2805253"/>
            <a:ext cx="8293267" cy="953135"/>
          </a:xfrm>
          <a:prstGeom prst="rect">
            <a:avLst/>
          </a:prstGeom>
        </p:spPr>
        <p:txBody>
          <a:bodyPr lIns="0" tIns="0" rIns="0" bIns="0" rtlCol="0" anchor="t">
            <a:spAutoFit/>
          </a:bodyPr>
          <a:lstStyle/>
          <a:p>
            <a:pPr algn="l">
              <a:lnSpc>
                <a:spcPts val="7840"/>
              </a:lnSpc>
              <a:spcBef>
                <a:spcPct val="0"/>
              </a:spcBef>
            </a:pPr>
            <a:r>
              <a:rPr lang="en-US" sz="5600" b="1" dirty="0">
                <a:solidFill>
                  <a:srgbClr val="F5E5E1"/>
                </a:solidFill>
                <a:latin typeface="Montserrat Bold"/>
                <a:ea typeface="Montserrat Bold"/>
                <a:cs typeface="Montserrat Bold"/>
                <a:sym typeface="Montserrat Bold"/>
              </a:rPr>
              <a:t>Objective: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4143"/>
        </a:solidFill>
        <a:effectLst/>
      </p:bgPr>
    </p:bg>
    <p:spTree>
      <p:nvGrpSpPr>
        <p:cNvPr id="1" name=""/>
        <p:cNvGrpSpPr/>
        <p:nvPr/>
      </p:nvGrpSpPr>
      <p:grpSpPr>
        <a:xfrm>
          <a:off x="0" y="0"/>
          <a:ext cx="0" cy="0"/>
          <a:chOff x="0" y="0"/>
          <a:chExt cx="0" cy="0"/>
        </a:xfrm>
      </p:grpSpPr>
      <p:sp>
        <p:nvSpPr>
          <p:cNvPr id="3" name="Freeform 3"/>
          <p:cNvSpPr/>
          <p:nvPr/>
        </p:nvSpPr>
        <p:spPr>
          <a:xfrm>
            <a:off x="9646444" y="-497681"/>
            <a:ext cx="11282362" cy="11282362"/>
          </a:xfrm>
          <a:custGeom>
            <a:avLst/>
            <a:gdLst/>
            <a:ahLst/>
            <a:cxnLst/>
            <a:rect l="l" t="t" r="r" b="b"/>
            <a:pathLst>
              <a:path w="11282362" h="11282362">
                <a:moveTo>
                  <a:pt x="0" y="0"/>
                </a:moveTo>
                <a:lnTo>
                  <a:pt x="11282362" y="0"/>
                </a:lnTo>
                <a:lnTo>
                  <a:pt x="11282362" y="11282362"/>
                </a:lnTo>
                <a:lnTo>
                  <a:pt x="0" y="112823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9830752" y="-262922"/>
            <a:ext cx="5246370" cy="5246370"/>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342" r="-25342"/>
              </a:stretch>
            </a:blipFill>
          </p:spPr>
          <p:txBody>
            <a:bodyPr/>
            <a:lstStyle/>
            <a:p>
              <a:endParaRPr lang="en-US"/>
            </a:p>
          </p:txBody>
        </p:sp>
      </p:grpSp>
      <p:grpSp>
        <p:nvGrpSpPr>
          <p:cNvPr id="6" name="Group 6"/>
          <p:cNvGrpSpPr/>
          <p:nvPr/>
        </p:nvGrpSpPr>
        <p:grpSpPr>
          <a:xfrm>
            <a:off x="9830752" y="5338604"/>
            <a:ext cx="5246370" cy="524637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000" r="-25000"/>
              </a:stretch>
            </a:blipFill>
          </p:spPr>
          <p:txBody>
            <a:bodyPr/>
            <a:lstStyle/>
            <a:p>
              <a:endParaRPr lang="en-US"/>
            </a:p>
          </p:txBody>
        </p:sp>
      </p:grpSp>
      <p:sp>
        <p:nvSpPr>
          <p:cNvPr id="8" name="TextBox 8"/>
          <p:cNvSpPr txBox="1"/>
          <p:nvPr/>
        </p:nvSpPr>
        <p:spPr>
          <a:xfrm>
            <a:off x="1028700" y="4305300"/>
            <a:ext cx="7277100" cy="1995106"/>
          </a:xfrm>
          <a:prstGeom prst="rect">
            <a:avLst/>
          </a:prstGeom>
        </p:spPr>
        <p:txBody>
          <a:bodyPr wrap="square" lIns="0" tIns="0" rIns="0" bIns="0" rtlCol="0" anchor="t">
            <a:spAutoFit/>
          </a:bodyPr>
          <a:lstStyle/>
          <a:p>
            <a:pPr lvl="0"/>
            <a:r>
              <a:rPr lang="en-US" sz="2500" b="1" dirty="0">
                <a:solidFill>
                  <a:srgbClr val="F5E5E1"/>
                </a:solidFill>
                <a:latin typeface="Montserrat" pitchFamily="2" charset="77"/>
              </a:rPr>
              <a:t>Data for 375,000+ Kickstarter projects from 2009-2017, including project name, category, launch date, deadline, goal, amount pledged, number of backers, state, and country.</a:t>
            </a:r>
          </a:p>
        </p:txBody>
      </p:sp>
      <p:sp>
        <p:nvSpPr>
          <p:cNvPr id="9" name="TextBox 9"/>
          <p:cNvSpPr txBox="1"/>
          <p:nvPr/>
        </p:nvSpPr>
        <p:spPr>
          <a:xfrm>
            <a:off x="1028700" y="2360263"/>
            <a:ext cx="8293267" cy="833562"/>
          </a:xfrm>
          <a:prstGeom prst="rect">
            <a:avLst/>
          </a:prstGeom>
        </p:spPr>
        <p:txBody>
          <a:bodyPr lIns="0" tIns="0" rIns="0" bIns="0" rtlCol="0" anchor="t">
            <a:spAutoFit/>
          </a:bodyPr>
          <a:lstStyle/>
          <a:p>
            <a:pPr algn="l">
              <a:lnSpc>
                <a:spcPts val="6496"/>
              </a:lnSpc>
            </a:pPr>
            <a:r>
              <a:rPr lang="en-US" sz="5600" b="1" dirty="0">
                <a:solidFill>
                  <a:srgbClr val="F5E5E1"/>
                </a:solidFill>
                <a:latin typeface="Montserrat Bold"/>
                <a:ea typeface="Montserrat Bold"/>
                <a:cs typeface="Montserrat Bold"/>
                <a:sym typeface="Montserrat Bold"/>
              </a:rPr>
              <a:t>About the Dataset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15860" y="5143500"/>
            <a:ext cx="8972210" cy="1538883"/>
          </a:xfrm>
          <a:prstGeom prst="rect">
            <a:avLst/>
          </a:prstGeom>
        </p:spPr>
        <p:txBody>
          <a:bodyPr lIns="0" tIns="0" rIns="0" bIns="0" rtlCol="0" anchor="t">
            <a:spAutoFit/>
          </a:bodyPr>
          <a:lstStyle/>
          <a:p>
            <a:r>
              <a:rPr lang="en-US" sz="2500" b="1" dirty="0">
                <a:solidFill>
                  <a:srgbClr val="114330"/>
                </a:solidFill>
                <a:latin typeface="Montserrat" pitchFamily="2" charset="77"/>
              </a:rPr>
              <a:t>Most Kickstarter projects unfortunately fail. Only a smaller portion reaches their funding goal. Understanding why is the main focus of this analysis.”</a:t>
            </a:r>
          </a:p>
        </p:txBody>
      </p:sp>
      <p:sp>
        <p:nvSpPr>
          <p:cNvPr id="5" name="TextBox 5"/>
          <p:cNvSpPr txBox="1"/>
          <p:nvPr/>
        </p:nvSpPr>
        <p:spPr>
          <a:xfrm>
            <a:off x="7848600" y="2196104"/>
            <a:ext cx="11353800" cy="889667"/>
          </a:xfrm>
          <a:prstGeom prst="rect">
            <a:avLst/>
          </a:prstGeom>
        </p:spPr>
        <p:txBody>
          <a:bodyPr wrap="square" lIns="0" tIns="0" rIns="0" bIns="0" rtlCol="0" anchor="t">
            <a:spAutoFit/>
          </a:bodyPr>
          <a:lstStyle/>
          <a:p>
            <a:pPr>
              <a:lnSpc>
                <a:spcPts val="7840"/>
              </a:lnSpc>
              <a:spcBef>
                <a:spcPct val="0"/>
              </a:spcBef>
            </a:pPr>
            <a:r>
              <a:rPr lang="en-US" sz="4400" b="1" dirty="0">
                <a:solidFill>
                  <a:srgbClr val="174143"/>
                </a:solidFill>
                <a:latin typeface="Montserrat Bold"/>
                <a:ea typeface="Montserrat Bold"/>
                <a:cs typeface="Montserrat Bold"/>
                <a:sym typeface="Montserrat Bold"/>
              </a:rPr>
              <a:t>Percentage</a:t>
            </a:r>
            <a:r>
              <a:rPr lang="en-US" sz="4000" b="1" dirty="0">
                <a:solidFill>
                  <a:srgbClr val="174143"/>
                </a:solidFill>
                <a:latin typeface="Montserrat Bold"/>
                <a:ea typeface="Montserrat Bold"/>
                <a:cs typeface="Montserrat Bold"/>
                <a:sym typeface="Montserrat Bold"/>
              </a:rPr>
              <a:t> of Successful Campaigns</a:t>
            </a:r>
          </a:p>
        </p:txBody>
      </p:sp>
      <p:sp>
        <p:nvSpPr>
          <p:cNvPr id="6" name="TextBox 6"/>
          <p:cNvSpPr txBox="1"/>
          <p:nvPr/>
        </p:nvSpPr>
        <p:spPr>
          <a:xfrm>
            <a:off x="1674148" y="1065678"/>
            <a:ext cx="2349348" cy="346249"/>
          </a:xfrm>
          <a:prstGeom prst="rect">
            <a:avLst/>
          </a:prstGeom>
        </p:spPr>
        <p:txBody>
          <a:bodyPr lIns="0" tIns="0" rIns="0" bIns="0" rtlCol="0" anchor="t">
            <a:spAutoFit/>
          </a:bodyPr>
          <a:lstStyle/>
          <a:p>
            <a:pPr algn="l">
              <a:lnSpc>
                <a:spcPts val="2734"/>
              </a:lnSpc>
            </a:pPr>
            <a:endParaRPr lang="en-US" sz="2441" b="1" dirty="0">
              <a:solidFill>
                <a:srgbClr val="174143"/>
              </a:solidFill>
              <a:latin typeface="Montserrat Medium"/>
              <a:ea typeface="Montserrat Medium"/>
              <a:cs typeface="Montserrat Medium"/>
              <a:sym typeface="Montserrat Medium"/>
            </a:endParaRPr>
          </a:p>
        </p:txBody>
      </p:sp>
      <p:pic>
        <p:nvPicPr>
          <p:cNvPr id="10" name="Picture 9" descr="A pie chart with text overlay&#10;&#10;AI-generated content may be incorrect.">
            <a:extLst>
              <a:ext uri="{FF2B5EF4-FFF2-40B4-BE49-F238E27FC236}">
                <a16:creationId xmlns:a16="http://schemas.microsoft.com/office/drawing/2014/main" id="{ACC4B6E5-418D-62A6-41C5-27B13D5511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896" y="2400300"/>
            <a:ext cx="7206519" cy="651043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582F1-0D34-0D1F-D321-C0B818046601}"/>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1B1629AA-319C-0160-7823-3E521E61E6CE}"/>
              </a:ext>
            </a:extLst>
          </p:cNvPr>
          <p:cNvSpPr txBox="1"/>
          <p:nvPr/>
        </p:nvSpPr>
        <p:spPr>
          <a:xfrm>
            <a:off x="1293157" y="8641040"/>
            <a:ext cx="15701686" cy="861774"/>
          </a:xfrm>
          <a:prstGeom prst="rect">
            <a:avLst/>
          </a:prstGeom>
        </p:spPr>
        <p:txBody>
          <a:bodyPr wrap="square" lIns="0" tIns="0" rIns="0" bIns="0" rtlCol="0" anchor="t">
            <a:spAutoFit/>
          </a:bodyPr>
          <a:lstStyle/>
          <a:p>
            <a:r>
              <a:rPr lang="en-US" sz="2800" b="1" dirty="0">
                <a:solidFill>
                  <a:srgbClr val="114330"/>
                </a:solidFill>
                <a:latin typeface="Montserrat" pitchFamily="2" charset="77"/>
              </a:rPr>
              <a:t>Certain categories are more likely to fail, highlighting the importance of choosing the right project topic.</a:t>
            </a:r>
            <a:endParaRPr lang="en-US" sz="2400" b="1" dirty="0">
              <a:solidFill>
                <a:srgbClr val="114330"/>
              </a:solidFill>
              <a:latin typeface="Montserrat" pitchFamily="2" charset="77"/>
            </a:endParaRPr>
          </a:p>
        </p:txBody>
      </p:sp>
      <p:sp>
        <p:nvSpPr>
          <p:cNvPr id="5" name="TextBox 5">
            <a:extLst>
              <a:ext uri="{FF2B5EF4-FFF2-40B4-BE49-F238E27FC236}">
                <a16:creationId xmlns:a16="http://schemas.microsoft.com/office/drawing/2014/main" id="{337B614D-4827-F635-9648-27D95ED2A20D}"/>
              </a:ext>
            </a:extLst>
          </p:cNvPr>
          <p:cNvSpPr txBox="1"/>
          <p:nvPr/>
        </p:nvSpPr>
        <p:spPr>
          <a:xfrm>
            <a:off x="1293157" y="7798318"/>
            <a:ext cx="11353800" cy="889667"/>
          </a:xfrm>
          <a:prstGeom prst="rect">
            <a:avLst/>
          </a:prstGeom>
        </p:spPr>
        <p:txBody>
          <a:bodyPr wrap="square" lIns="0" tIns="0" rIns="0" bIns="0" rtlCol="0" anchor="t">
            <a:spAutoFit/>
          </a:bodyPr>
          <a:lstStyle/>
          <a:p>
            <a:pPr>
              <a:lnSpc>
                <a:spcPts val="7840"/>
              </a:lnSpc>
              <a:spcBef>
                <a:spcPct val="0"/>
              </a:spcBef>
            </a:pPr>
            <a:r>
              <a:rPr lang="en-US" sz="4000" b="1" dirty="0">
                <a:solidFill>
                  <a:srgbClr val="174143"/>
                </a:solidFill>
                <a:latin typeface="Montserrat Bold"/>
                <a:ea typeface="Montserrat Bold"/>
                <a:cs typeface="Montserrat Bold"/>
                <a:sym typeface="Montserrat Bold"/>
              </a:rPr>
              <a:t> </a:t>
            </a:r>
          </a:p>
        </p:txBody>
      </p:sp>
      <p:sp>
        <p:nvSpPr>
          <p:cNvPr id="7" name="TextBox 7">
            <a:extLst>
              <a:ext uri="{FF2B5EF4-FFF2-40B4-BE49-F238E27FC236}">
                <a16:creationId xmlns:a16="http://schemas.microsoft.com/office/drawing/2014/main" id="{C19F34C4-594C-EC38-C29F-AFE1BAA99CA7}"/>
              </a:ext>
            </a:extLst>
          </p:cNvPr>
          <p:cNvSpPr txBox="1"/>
          <p:nvPr/>
        </p:nvSpPr>
        <p:spPr>
          <a:xfrm>
            <a:off x="13001965" y="8885555"/>
            <a:ext cx="4257335" cy="372745"/>
          </a:xfrm>
          <a:prstGeom prst="rect">
            <a:avLst/>
          </a:prstGeom>
        </p:spPr>
        <p:txBody>
          <a:bodyPr lIns="0" tIns="0" rIns="0" bIns="0" rtlCol="0" anchor="t">
            <a:spAutoFit/>
          </a:bodyPr>
          <a:lstStyle/>
          <a:p>
            <a:pPr algn="r">
              <a:lnSpc>
                <a:spcPts val="3080"/>
              </a:lnSpc>
              <a:spcBef>
                <a:spcPct val="0"/>
              </a:spcBef>
            </a:pPr>
            <a:endParaRPr lang="en-US" sz="2200" b="1" dirty="0">
              <a:solidFill>
                <a:srgbClr val="174143"/>
              </a:solidFill>
              <a:latin typeface="Montserrat Medium"/>
              <a:ea typeface="Montserrat Medium"/>
              <a:cs typeface="Montserrat Medium"/>
              <a:sym typeface="Montserrat Medium"/>
            </a:endParaRPr>
          </a:p>
        </p:txBody>
      </p:sp>
      <p:pic>
        <p:nvPicPr>
          <p:cNvPr id="11" name="Picture 10" descr="A graph showing a bar graph&#10;&#10;AI-generated content may be incorrect.">
            <a:extLst>
              <a:ext uri="{FF2B5EF4-FFF2-40B4-BE49-F238E27FC236}">
                <a16:creationId xmlns:a16="http://schemas.microsoft.com/office/drawing/2014/main" id="{144F94A9-A9C8-1BD7-1F13-351466889F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086" y="0"/>
            <a:ext cx="16467805" cy="8156948"/>
          </a:xfrm>
          <a:prstGeom prst="rect">
            <a:avLst/>
          </a:prstGeom>
        </p:spPr>
      </p:pic>
    </p:spTree>
    <p:extLst>
      <p:ext uri="{BB962C8B-B14F-4D97-AF65-F5344CB8AC3E}">
        <p14:creationId xmlns:p14="http://schemas.microsoft.com/office/powerpoint/2010/main" val="2850363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02C25-D63C-5A33-5F5F-BC5EBEAD4859}"/>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B4FA922E-4FBA-C373-252B-6CA2642B751D}"/>
              </a:ext>
            </a:extLst>
          </p:cNvPr>
          <p:cNvSpPr txBox="1"/>
          <p:nvPr/>
        </p:nvSpPr>
        <p:spPr>
          <a:xfrm>
            <a:off x="670306" y="8966094"/>
            <a:ext cx="16550894" cy="769441"/>
          </a:xfrm>
          <a:prstGeom prst="rect">
            <a:avLst/>
          </a:prstGeom>
        </p:spPr>
        <p:txBody>
          <a:bodyPr wrap="square" lIns="0" tIns="0" rIns="0" bIns="0" rtlCol="0" anchor="t">
            <a:spAutoFit/>
          </a:bodyPr>
          <a:lstStyle/>
          <a:p>
            <a:r>
              <a:rPr lang="en-US" sz="2500" b="1" dirty="0">
                <a:solidFill>
                  <a:srgbClr val="114330"/>
                </a:solidFill>
                <a:latin typeface="Montserrat" pitchFamily="2" charset="77"/>
              </a:rPr>
              <a:t>Projects in 'dance' or 'theater' categories have best chances to success,; journalism and technology are mostly doomed to fail.</a:t>
            </a:r>
          </a:p>
        </p:txBody>
      </p:sp>
      <p:sp>
        <p:nvSpPr>
          <p:cNvPr id="6" name="TextBox 6">
            <a:extLst>
              <a:ext uri="{FF2B5EF4-FFF2-40B4-BE49-F238E27FC236}">
                <a16:creationId xmlns:a16="http://schemas.microsoft.com/office/drawing/2014/main" id="{C6A6BA0A-2291-82E9-AD37-ED7FDE34AB29}"/>
              </a:ext>
            </a:extLst>
          </p:cNvPr>
          <p:cNvSpPr txBox="1"/>
          <p:nvPr/>
        </p:nvSpPr>
        <p:spPr>
          <a:xfrm>
            <a:off x="1674148" y="1065678"/>
            <a:ext cx="2349348" cy="346249"/>
          </a:xfrm>
          <a:prstGeom prst="rect">
            <a:avLst/>
          </a:prstGeom>
        </p:spPr>
        <p:txBody>
          <a:bodyPr lIns="0" tIns="0" rIns="0" bIns="0" rtlCol="0" anchor="t">
            <a:spAutoFit/>
          </a:bodyPr>
          <a:lstStyle/>
          <a:p>
            <a:pPr algn="l">
              <a:lnSpc>
                <a:spcPts val="2734"/>
              </a:lnSpc>
            </a:pPr>
            <a:endParaRPr lang="en-US" sz="2441" b="1" dirty="0">
              <a:solidFill>
                <a:srgbClr val="174143"/>
              </a:solidFill>
              <a:latin typeface="Montserrat Medium"/>
              <a:ea typeface="Montserrat Medium"/>
              <a:cs typeface="Montserrat Medium"/>
              <a:sym typeface="Montserrat Medium"/>
            </a:endParaRPr>
          </a:p>
        </p:txBody>
      </p:sp>
      <p:pic>
        <p:nvPicPr>
          <p:cNvPr id="4" name="Picture 3" descr="A graph of success rate&#10;&#10;AI-generated content may be incorrect.">
            <a:extLst>
              <a:ext uri="{FF2B5EF4-FFF2-40B4-BE49-F238E27FC236}">
                <a16:creationId xmlns:a16="http://schemas.microsoft.com/office/drawing/2014/main" id="{F545434C-1776-D408-EF60-8CEC0A94EA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642" y="-13716"/>
            <a:ext cx="16529558" cy="8187536"/>
          </a:xfrm>
          <a:prstGeom prst="rect">
            <a:avLst/>
          </a:prstGeom>
        </p:spPr>
      </p:pic>
    </p:spTree>
    <p:extLst>
      <p:ext uri="{BB962C8B-B14F-4D97-AF65-F5344CB8AC3E}">
        <p14:creationId xmlns:p14="http://schemas.microsoft.com/office/powerpoint/2010/main" val="3495354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E2FA1-733E-F7E6-C6D5-AC3D8C324713}"/>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3DB5BD5C-65A2-3C76-E894-6BF50466334B}"/>
              </a:ext>
            </a:extLst>
          </p:cNvPr>
          <p:cNvSpPr txBox="1"/>
          <p:nvPr/>
        </p:nvSpPr>
        <p:spPr>
          <a:xfrm>
            <a:off x="834643" y="8930395"/>
            <a:ext cx="16999072" cy="769441"/>
          </a:xfrm>
          <a:prstGeom prst="rect">
            <a:avLst/>
          </a:prstGeom>
        </p:spPr>
        <p:txBody>
          <a:bodyPr wrap="square" lIns="0" tIns="0" rIns="0" bIns="0" rtlCol="0" anchor="t">
            <a:spAutoFit/>
          </a:bodyPr>
          <a:lstStyle/>
          <a:p>
            <a:r>
              <a:rPr lang="en-US" sz="2500" b="1" dirty="0">
                <a:solidFill>
                  <a:srgbClr val="114330"/>
                </a:solidFill>
                <a:latin typeface="Montserrat" pitchFamily="2" charset="77"/>
              </a:rPr>
              <a:t>Projects that start in the “United States” have more chances to succeed than those in countries like “Italy”.</a:t>
            </a:r>
          </a:p>
        </p:txBody>
      </p:sp>
      <p:sp>
        <p:nvSpPr>
          <p:cNvPr id="6" name="TextBox 6">
            <a:extLst>
              <a:ext uri="{FF2B5EF4-FFF2-40B4-BE49-F238E27FC236}">
                <a16:creationId xmlns:a16="http://schemas.microsoft.com/office/drawing/2014/main" id="{A47D04E4-0160-C416-F1DF-07C17BD07164}"/>
              </a:ext>
            </a:extLst>
          </p:cNvPr>
          <p:cNvSpPr txBox="1"/>
          <p:nvPr/>
        </p:nvSpPr>
        <p:spPr>
          <a:xfrm>
            <a:off x="1674148" y="1065678"/>
            <a:ext cx="2349348" cy="346249"/>
          </a:xfrm>
          <a:prstGeom prst="rect">
            <a:avLst/>
          </a:prstGeom>
        </p:spPr>
        <p:txBody>
          <a:bodyPr lIns="0" tIns="0" rIns="0" bIns="0" rtlCol="0" anchor="t">
            <a:spAutoFit/>
          </a:bodyPr>
          <a:lstStyle/>
          <a:p>
            <a:pPr algn="l">
              <a:lnSpc>
                <a:spcPts val="2734"/>
              </a:lnSpc>
            </a:pPr>
            <a:endParaRPr lang="en-US" sz="2441" b="1" dirty="0">
              <a:solidFill>
                <a:srgbClr val="174143"/>
              </a:solidFill>
              <a:latin typeface="Montserrat Medium"/>
              <a:ea typeface="Montserrat Medium"/>
              <a:cs typeface="Montserrat Medium"/>
              <a:sym typeface="Montserrat Medium"/>
            </a:endParaRPr>
          </a:p>
        </p:txBody>
      </p:sp>
      <p:pic>
        <p:nvPicPr>
          <p:cNvPr id="5" name="Picture 4" descr="A graph of blue bars with white text&#10;&#10;AI-generated content may be incorrect.">
            <a:extLst>
              <a:ext uri="{FF2B5EF4-FFF2-40B4-BE49-F238E27FC236}">
                <a16:creationId xmlns:a16="http://schemas.microsoft.com/office/drawing/2014/main" id="{0848FAB7-4F43-F25A-FB06-46C30DAF07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8301" y="0"/>
            <a:ext cx="16999073" cy="8420100"/>
          </a:xfrm>
          <a:prstGeom prst="rect">
            <a:avLst/>
          </a:prstGeom>
        </p:spPr>
      </p:pic>
    </p:spTree>
    <p:extLst>
      <p:ext uri="{BB962C8B-B14F-4D97-AF65-F5344CB8AC3E}">
        <p14:creationId xmlns:p14="http://schemas.microsoft.com/office/powerpoint/2010/main" val="3859210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F8E28-17C4-E7F9-2BEC-55A0931082A9}"/>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EFB4ABD6-6346-EF6D-FE64-0F65754C6F97}"/>
              </a:ext>
            </a:extLst>
          </p:cNvPr>
          <p:cNvSpPr txBox="1"/>
          <p:nvPr/>
        </p:nvSpPr>
        <p:spPr>
          <a:xfrm>
            <a:off x="838200" y="9221322"/>
            <a:ext cx="16999072" cy="692497"/>
          </a:xfrm>
          <a:prstGeom prst="rect">
            <a:avLst/>
          </a:prstGeom>
        </p:spPr>
        <p:txBody>
          <a:bodyPr wrap="square" lIns="0" tIns="0" rIns="0" bIns="0" rtlCol="0" anchor="t">
            <a:spAutoFit/>
          </a:bodyPr>
          <a:lstStyle/>
          <a:p>
            <a:pPr>
              <a:lnSpc>
                <a:spcPct val="90000"/>
              </a:lnSpc>
              <a:spcAft>
                <a:spcPts val="600"/>
              </a:spcAft>
            </a:pPr>
            <a:r>
              <a:rPr lang="en-US" sz="2500" b="1" dirty="0">
                <a:solidFill>
                  <a:srgbClr val="114330"/>
                </a:solidFill>
                <a:latin typeface="Montserrat" pitchFamily="2" charset="77"/>
              </a:rPr>
              <a:t>Projects launched in July and December have low success chances, due to Christmas and summer vacation. </a:t>
            </a:r>
          </a:p>
        </p:txBody>
      </p:sp>
      <p:sp>
        <p:nvSpPr>
          <p:cNvPr id="6" name="TextBox 6">
            <a:extLst>
              <a:ext uri="{FF2B5EF4-FFF2-40B4-BE49-F238E27FC236}">
                <a16:creationId xmlns:a16="http://schemas.microsoft.com/office/drawing/2014/main" id="{1CFB6188-1086-8848-38C2-DB892421DEAF}"/>
              </a:ext>
            </a:extLst>
          </p:cNvPr>
          <p:cNvSpPr txBox="1"/>
          <p:nvPr/>
        </p:nvSpPr>
        <p:spPr>
          <a:xfrm>
            <a:off x="1674148" y="1065678"/>
            <a:ext cx="2349348" cy="346249"/>
          </a:xfrm>
          <a:prstGeom prst="rect">
            <a:avLst/>
          </a:prstGeom>
        </p:spPr>
        <p:txBody>
          <a:bodyPr lIns="0" tIns="0" rIns="0" bIns="0" rtlCol="0" anchor="t">
            <a:spAutoFit/>
          </a:bodyPr>
          <a:lstStyle/>
          <a:p>
            <a:pPr algn="l">
              <a:lnSpc>
                <a:spcPts val="2734"/>
              </a:lnSpc>
            </a:pPr>
            <a:endParaRPr lang="en-US" sz="2441" b="1" dirty="0">
              <a:solidFill>
                <a:srgbClr val="174143"/>
              </a:solidFill>
              <a:latin typeface="Montserrat Medium"/>
              <a:ea typeface="Montserrat Medium"/>
              <a:cs typeface="Montserrat Medium"/>
              <a:sym typeface="Montserrat Medium"/>
            </a:endParaRPr>
          </a:p>
        </p:txBody>
      </p:sp>
      <p:pic>
        <p:nvPicPr>
          <p:cNvPr id="4" name="Picture 3" descr="A graph of a graph of success&#10;&#10;AI-generated content may be incorrect.">
            <a:extLst>
              <a:ext uri="{FF2B5EF4-FFF2-40B4-BE49-F238E27FC236}">
                <a16:creationId xmlns:a16="http://schemas.microsoft.com/office/drawing/2014/main" id="{98B2C925-1C43-12A1-E6B1-659646C97F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287" y="27695"/>
            <a:ext cx="18033426" cy="8915400"/>
          </a:xfrm>
          <a:prstGeom prst="rect">
            <a:avLst/>
          </a:prstGeom>
        </p:spPr>
      </p:pic>
    </p:spTree>
    <p:extLst>
      <p:ext uri="{BB962C8B-B14F-4D97-AF65-F5344CB8AC3E}">
        <p14:creationId xmlns:p14="http://schemas.microsoft.com/office/powerpoint/2010/main" val="1614860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D2A46-3840-6C50-60ED-C0AFDC473780}"/>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79DF3CD2-7C07-728A-563A-58CC04443A98}"/>
              </a:ext>
            </a:extLst>
          </p:cNvPr>
          <p:cNvSpPr txBox="1"/>
          <p:nvPr/>
        </p:nvSpPr>
        <p:spPr>
          <a:xfrm>
            <a:off x="1294274" y="9054098"/>
            <a:ext cx="15699452" cy="769441"/>
          </a:xfrm>
          <a:prstGeom prst="rect">
            <a:avLst/>
          </a:prstGeom>
        </p:spPr>
        <p:txBody>
          <a:bodyPr wrap="square" lIns="0" tIns="0" rIns="0" bIns="0" rtlCol="0" anchor="t">
            <a:spAutoFit/>
          </a:bodyPr>
          <a:lstStyle/>
          <a:p>
            <a:r>
              <a:rPr lang="en-US" sz="2500" b="1" dirty="0">
                <a:solidFill>
                  <a:srgbClr val="114330"/>
                </a:solidFill>
                <a:latin typeface="Montserrat" pitchFamily="2" charset="77"/>
              </a:rPr>
              <a:t>These are the key factors that have the strongest influence on project chances to succeeds.</a:t>
            </a:r>
          </a:p>
          <a:p>
            <a:r>
              <a:rPr lang="en-US" sz="2500" b="1" dirty="0">
                <a:solidFill>
                  <a:srgbClr val="114330"/>
                </a:solidFill>
                <a:latin typeface="Montserrat" pitchFamily="2" charset="77"/>
              </a:rPr>
              <a:t>The taller the bar, the more that factor contributes to success.</a:t>
            </a:r>
          </a:p>
        </p:txBody>
      </p:sp>
      <p:sp>
        <p:nvSpPr>
          <p:cNvPr id="6" name="TextBox 6">
            <a:extLst>
              <a:ext uri="{FF2B5EF4-FFF2-40B4-BE49-F238E27FC236}">
                <a16:creationId xmlns:a16="http://schemas.microsoft.com/office/drawing/2014/main" id="{E2A38539-31CB-2236-106E-21F547F3D0BD}"/>
              </a:ext>
            </a:extLst>
          </p:cNvPr>
          <p:cNvSpPr txBox="1"/>
          <p:nvPr/>
        </p:nvSpPr>
        <p:spPr>
          <a:xfrm>
            <a:off x="1674148" y="1065678"/>
            <a:ext cx="2349348" cy="346249"/>
          </a:xfrm>
          <a:prstGeom prst="rect">
            <a:avLst/>
          </a:prstGeom>
        </p:spPr>
        <p:txBody>
          <a:bodyPr lIns="0" tIns="0" rIns="0" bIns="0" rtlCol="0" anchor="t">
            <a:spAutoFit/>
          </a:bodyPr>
          <a:lstStyle/>
          <a:p>
            <a:pPr algn="l">
              <a:lnSpc>
                <a:spcPts val="2734"/>
              </a:lnSpc>
            </a:pPr>
            <a:endParaRPr lang="en-US" sz="2441" b="1" dirty="0">
              <a:solidFill>
                <a:srgbClr val="174143"/>
              </a:solidFill>
              <a:latin typeface="Montserrat Medium"/>
              <a:ea typeface="Montserrat Medium"/>
              <a:cs typeface="Montserrat Medium"/>
              <a:sym typeface="Montserrat Medium"/>
            </a:endParaRPr>
          </a:p>
        </p:txBody>
      </p:sp>
      <p:pic>
        <p:nvPicPr>
          <p:cNvPr id="4" name="Picture 3" descr="A graph of success drivers&#10;&#10;AI-generated content may be incorrect.">
            <a:extLst>
              <a:ext uri="{FF2B5EF4-FFF2-40B4-BE49-F238E27FC236}">
                <a16:creationId xmlns:a16="http://schemas.microsoft.com/office/drawing/2014/main" id="{C931CECB-46E7-169F-84DA-37B28E78BF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0700" y="27940"/>
            <a:ext cx="14706600" cy="8757861"/>
          </a:xfrm>
          <a:prstGeom prst="rect">
            <a:avLst/>
          </a:prstGeom>
        </p:spPr>
      </p:pic>
    </p:spTree>
    <p:extLst>
      <p:ext uri="{BB962C8B-B14F-4D97-AF65-F5344CB8AC3E}">
        <p14:creationId xmlns:p14="http://schemas.microsoft.com/office/powerpoint/2010/main" val="562236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7EF79-882E-BAD0-879C-F7FC083CD99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DBD6C52-E1D4-D713-8E2B-270B36F85961}"/>
              </a:ext>
            </a:extLst>
          </p:cNvPr>
          <p:cNvSpPr/>
          <p:nvPr/>
        </p:nvSpPr>
        <p:spPr>
          <a:xfrm>
            <a:off x="7418447" y="-184455"/>
            <a:ext cx="12966262" cy="10655910"/>
          </a:xfrm>
          <a:custGeom>
            <a:avLst/>
            <a:gdLst/>
            <a:ahLst/>
            <a:cxnLst/>
            <a:rect l="l" t="t" r="r" b="b"/>
            <a:pathLst>
              <a:path w="12966262" h="10655910">
                <a:moveTo>
                  <a:pt x="0" y="0"/>
                </a:moveTo>
                <a:lnTo>
                  <a:pt x="12966262" y="0"/>
                </a:lnTo>
                <a:lnTo>
                  <a:pt x="12966262" y="10655910"/>
                </a:lnTo>
                <a:lnTo>
                  <a:pt x="0" y="106559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0DADF9A5-3D48-0454-3087-71B8AFC22DAF}"/>
              </a:ext>
            </a:extLst>
          </p:cNvPr>
          <p:cNvSpPr txBox="1"/>
          <p:nvPr/>
        </p:nvSpPr>
        <p:spPr>
          <a:xfrm>
            <a:off x="1371600" y="4732000"/>
            <a:ext cx="7001297" cy="5278368"/>
          </a:xfrm>
          <a:prstGeom prst="rect">
            <a:avLst/>
          </a:prstGeom>
        </p:spPr>
        <p:txBody>
          <a:bodyPr wrap="square" lIns="0" tIns="0" rIns="0" bIns="0" rtlCol="0" anchor="t">
            <a:spAutoFit/>
          </a:bodyPr>
          <a:lstStyle/>
          <a:p>
            <a:endParaRPr lang="en-US" dirty="0"/>
          </a:p>
          <a:p>
            <a:pPr marL="457200" indent="-457200">
              <a:buFont typeface="Arial" panose="020B0604020202020204" pitchFamily="34" charset="0"/>
              <a:buChar char="•"/>
            </a:pPr>
            <a:r>
              <a:rPr lang="en-US" sz="2500" b="1" dirty="0">
                <a:solidFill>
                  <a:srgbClr val="114330"/>
                </a:solidFill>
                <a:latin typeface="Montserrat" pitchFamily="2" charset="77"/>
              </a:rPr>
              <a:t>Smaller funding goals significantly improve success rates.</a:t>
            </a:r>
          </a:p>
          <a:p>
            <a:pPr marL="457200" indent="-457200">
              <a:buFont typeface="Arial" panose="020B0604020202020204" pitchFamily="34" charset="0"/>
              <a:buChar char="•"/>
            </a:pPr>
            <a:r>
              <a:rPr lang="en-US" sz="2500" b="1" dirty="0">
                <a:solidFill>
                  <a:srgbClr val="114330"/>
                </a:solidFill>
                <a:latin typeface="Montserrat" pitchFamily="2" charset="77"/>
              </a:rPr>
              <a:t>Dance and Theater are the highest-performing categories.</a:t>
            </a:r>
          </a:p>
          <a:p>
            <a:pPr marL="457200" indent="-457200">
              <a:buFont typeface="Arial" panose="020B0604020202020204" pitchFamily="34" charset="0"/>
              <a:buChar char="•"/>
            </a:pPr>
            <a:r>
              <a:rPr lang="en-US" sz="2500" b="1" dirty="0">
                <a:solidFill>
                  <a:srgbClr val="114330"/>
                </a:solidFill>
                <a:latin typeface="Montserrat" pitchFamily="2" charset="77"/>
              </a:rPr>
              <a:t>Projects launched in the United States and United Kingdom have nearly twice the success rate of those in Italy.</a:t>
            </a:r>
          </a:p>
          <a:p>
            <a:pPr marL="457200" indent="-457200">
              <a:buFont typeface="Arial" panose="020B0604020202020204" pitchFamily="34" charset="0"/>
              <a:buChar char="•"/>
            </a:pPr>
            <a:r>
              <a:rPr lang="en-US" sz="2500" b="1" dirty="0">
                <a:solidFill>
                  <a:srgbClr val="114330"/>
                </a:solidFill>
                <a:latin typeface="Montserrat" pitchFamily="2" charset="77"/>
              </a:rPr>
              <a:t>July and December show the lowest success rates — poor months to launch.</a:t>
            </a:r>
          </a:p>
          <a:p>
            <a:pPr marL="457200" indent="-457200">
              <a:buFont typeface="Arial" panose="020B0604020202020204" pitchFamily="34" charset="0"/>
              <a:buChar char="•"/>
            </a:pPr>
            <a:r>
              <a:rPr lang="en-US" sz="2500" b="1" dirty="0">
                <a:solidFill>
                  <a:srgbClr val="114330"/>
                </a:solidFill>
                <a:latin typeface="Montserrat" pitchFamily="2" charset="77"/>
              </a:rPr>
              <a:t>Funding Achieved (%) is the strongest predictor of whether a campaign succeeds.</a:t>
            </a:r>
          </a:p>
        </p:txBody>
      </p:sp>
      <p:sp>
        <p:nvSpPr>
          <p:cNvPr id="5" name="TextBox 5">
            <a:extLst>
              <a:ext uri="{FF2B5EF4-FFF2-40B4-BE49-F238E27FC236}">
                <a16:creationId xmlns:a16="http://schemas.microsoft.com/office/drawing/2014/main" id="{5A5649AB-0BF1-0B5A-06D8-996B963966D1}"/>
              </a:ext>
            </a:extLst>
          </p:cNvPr>
          <p:cNvSpPr txBox="1"/>
          <p:nvPr/>
        </p:nvSpPr>
        <p:spPr>
          <a:xfrm>
            <a:off x="1014943" y="2324100"/>
            <a:ext cx="7124700" cy="833562"/>
          </a:xfrm>
          <a:prstGeom prst="rect">
            <a:avLst/>
          </a:prstGeom>
        </p:spPr>
        <p:txBody>
          <a:bodyPr wrap="square" lIns="0" tIns="0" rIns="0" bIns="0" rtlCol="0" anchor="t">
            <a:spAutoFit/>
          </a:bodyPr>
          <a:lstStyle/>
          <a:p>
            <a:pPr algn="l">
              <a:lnSpc>
                <a:spcPts val="6496"/>
              </a:lnSpc>
            </a:pPr>
            <a:r>
              <a:rPr lang="en-US" sz="5600" b="1" dirty="0">
                <a:solidFill>
                  <a:srgbClr val="174143"/>
                </a:solidFill>
                <a:latin typeface="Montserrat Bold"/>
                <a:ea typeface="Montserrat Bold"/>
                <a:cs typeface="Montserrat Bold"/>
                <a:sym typeface="Montserrat Bold"/>
              </a:rPr>
              <a:t>Key Findings</a:t>
            </a:r>
          </a:p>
        </p:txBody>
      </p:sp>
      <p:sp>
        <p:nvSpPr>
          <p:cNvPr id="8" name="TextBox 7">
            <a:extLst>
              <a:ext uri="{FF2B5EF4-FFF2-40B4-BE49-F238E27FC236}">
                <a16:creationId xmlns:a16="http://schemas.microsoft.com/office/drawing/2014/main" id="{E427D6F9-3910-723A-7321-0C0491CA2509}"/>
              </a:ext>
            </a:extLst>
          </p:cNvPr>
          <p:cNvSpPr txBox="1"/>
          <p:nvPr/>
        </p:nvSpPr>
        <p:spPr>
          <a:xfrm>
            <a:off x="6547104" y="4206240"/>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8825F6F9-04C5-0A29-7E14-EB8C16D78EEF}"/>
              </a:ext>
            </a:extLst>
          </p:cNvPr>
          <p:cNvSpPr txBox="1"/>
          <p:nvPr/>
        </p:nvSpPr>
        <p:spPr>
          <a:xfrm>
            <a:off x="1014943" y="3683020"/>
            <a:ext cx="10190480" cy="523220"/>
          </a:xfrm>
          <a:prstGeom prst="rect">
            <a:avLst/>
          </a:prstGeom>
          <a:noFill/>
        </p:spPr>
        <p:txBody>
          <a:bodyPr wrap="square">
            <a:spAutoFit/>
          </a:bodyPr>
          <a:lstStyle/>
          <a:p>
            <a:r>
              <a:rPr lang="en-US" sz="2800" b="1" dirty="0">
                <a:solidFill>
                  <a:srgbClr val="114330"/>
                </a:solidFill>
                <a:latin typeface="Montserrat" pitchFamily="2" charset="77"/>
              </a:rPr>
              <a:t>Bullet points:</a:t>
            </a:r>
          </a:p>
        </p:txBody>
      </p:sp>
    </p:spTree>
    <p:extLst>
      <p:ext uri="{BB962C8B-B14F-4D97-AF65-F5344CB8AC3E}">
        <p14:creationId xmlns:p14="http://schemas.microsoft.com/office/powerpoint/2010/main" val="591978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418447" y="-184455"/>
            <a:ext cx="12966262" cy="10655910"/>
          </a:xfrm>
          <a:custGeom>
            <a:avLst/>
            <a:gdLst/>
            <a:ahLst/>
            <a:cxnLst/>
            <a:rect l="l" t="t" r="r" b="b"/>
            <a:pathLst>
              <a:path w="12966262" h="10655910">
                <a:moveTo>
                  <a:pt x="0" y="0"/>
                </a:moveTo>
                <a:lnTo>
                  <a:pt x="12966262" y="0"/>
                </a:lnTo>
                <a:lnTo>
                  <a:pt x="12966262" y="10655910"/>
                </a:lnTo>
                <a:lnTo>
                  <a:pt x="0" y="106559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1456903" y="4988583"/>
            <a:ext cx="6696497" cy="3631763"/>
          </a:xfrm>
          <a:prstGeom prst="rect">
            <a:avLst/>
          </a:prstGeom>
        </p:spPr>
        <p:txBody>
          <a:bodyPr wrap="square" lIns="0" tIns="0" rIns="0" bIns="0" rtlCol="0" anchor="t">
            <a:spAutoFit/>
          </a:bodyPr>
          <a:lstStyle/>
          <a:p>
            <a:endParaRPr lang="en-US" dirty="0"/>
          </a:p>
          <a:p>
            <a:pPr marL="342900" lvl="0" indent="-342900">
              <a:buFont typeface="Arial" panose="020B0604020202020204" pitchFamily="34" charset="0"/>
              <a:buChar char="•"/>
            </a:pPr>
            <a:r>
              <a:rPr lang="en-US" sz="2500" b="1" dirty="0">
                <a:solidFill>
                  <a:srgbClr val="114330"/>
                </a:solidFill>
                <a:latin typeface="Montserrat" pitchFamily="2" charset="77"/>
              </a:rPr>
              <a:t>Set a realistic and achievable funding  goal</a:t>
            </a:r>
          </a:p>
          <a:p>
            <a:pPr marL="342900" lvl="0" indent="-342900">
              <a:buFont typeface="Arial" panose="020B0604020202020204" pitchFamily="34" charset="0"/>
              <a:buChar char="•"/>
            </a:pPr>
            <a:r>
              <a:rPr lang="en-US" sz="2500" b="1" dirty="0">
                <a:solidFill>
                  <a:srgbClr val="114330"/>
                </a:solidFill>
                <a:latin typeface="Montserrat" pitchFamily="2" charset="77"/>
              </a:rPr>
              <a:t>Select high-performance categories when possible</a:t>
            </a:r>
          </a:p>
          <a:p>
            <a:pPr marL="342900" indent="-342900">
              <a:buFont typeface="Arial" panose="020B0604020202020204" pitchFamily="34" charset="0"/>
              <a:buChar char="•"/>
            </a:pPr>
            <a:r>
              <a:rPr lang="en-US" sz="2500" b="1" dirty="0">
                <a:solidFill>
                  <a:srgbClr val="114330"/>
                </a:solidFill>
                <a:latin typeface="Montserrat" pitchFamily="2" charset="77"/>
              </a:rPr>
              <a:t>Engage your community early to build momentum before launch.</a:t>
            </a:r>
          </a:p>
          <a:p>
            <a:pPr marL="342900" indent="-342900">
              <a:buFont typeface="Arial" panose="020B0604020202020204" pitchFamily="34" charset="0"/>
              <a:buChar char="•"/>
            </a:pPr>
            <a:r>
              <a:rPr lang="en-US" sz="2500" b="1" dirty="0">
                <a:solidFill>
                  <a:srgbClr val="114330"/>
                </a:solidFill>
                <a:latin typeface="Montserrat" pitchFamily="2" charset="77"/>
              </a:rPr>
              <a:t>Launch campaigns during high-activity months to maximize visibility.</a:t>
            </a:r>
          </a:p>
          <a:p>
            <a:pPr marL="342900" lvl="0" indent="-342900">
              <a:buFont typeface="Arial" panose="020B0604020202020204" pitchFamily="34" charset="0"/>
              <a:buChar char="•"/>
            </a:pPr>
            <a:endParaRPr lang="en-US" dirty="0"/>
          </a:p>
        </p:txBody>
      </p:sp>
      <p:sp>
        <p:nvSpPr>
          <p:cNvPr id="5" name="TextBox 5"/>
          <p:cNvSpPr txBox="1"/>
          <p:nvPr/>
        </p:nvSpPr>
        <p:spPr>
          <a:xfrm>
            <a:off x="1028700" y="2901877"/>
            <a:ext cx="7124700" cy="833562"/>
          </a:xfrm>
          <a:prstGeom prst="rect">
            <a:avLst/>
          </a:prstGeom>
        </p:spPr>
        <p:txBody>
          <a:bodyPr wrap="square" lIns="0" tIns="0" rIns="0" bIns="0" rtlCol="0" anchor="t">
            <a:spAutoFit/>
          </a:bodyPr>
          <a:lstStyle/>
          <a:p>
            <a:pPr algn="l">
              <a:lnSpc>
                <a:spcPts val="6496"/>
              </a:lnSpc>
            </a:pPr>
            <a:r>
              <a:rPr lang="en-US" sz="5600" b="1" dirty="0">
                <a:solidFill>
                  <a:srgbClr val="174143"/>
                </a:solidFill>
                <a:latin typeface="Montserrat Bold"/>
                <a:ea typeface="Montserrat Bold"/>
                <a:cs typeface="Montserrat Bold"/>
                <a:sym typeface="Montserrat Bold"/>
              </a:rPr>
              <a:t>Recommendations</a:t>
            </a:r>
          </a:p>
        </p:txBody>
      </p:sp>
      <p:sp>
        <p:nvSpPr>
          <p:cNvPr id="8" name="TextBox 7">
            <a:extLst>
              <a:ext uri="{FF2B5EF4-FFF2-40B4-BE49-F238E27FC236}">
                <a16:creationId xmlns:a16="http://schemas.microsoft.com/office/drawing/2014/main" id="{F388F605-4C19-7B2A-1B36-21D28C2EC7D4}"/>
              </a:ext>
            </a:extLst>
          </p:cNvPr>
          <p:cNvSpPr txBox="1"/>
          <p:nvPr/>
        </p:nvSpPr>
        <p:spPr>
          <a:xfrm>
            <a:off x="6547104" y="4206240"/>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A0B8C4A5-6F52-42CC-E8F1-2C172EFA7590}"/>
              </a:ext>
            </a:extLst>
          </p:cNvPr>
          <p:cNvSpPr txBox="1"/>
          <p:nvPr/>
        </p:nvSpPr>
        <p:spPr>
          <a:xfrm>
            <a:off x="979383" y="4153138"/>
            <a:ext cx="10190480" cy="523220"/>
          </a:xfrm>
          <a:prstGeom prst="rect">
            <a:avLst/>
          </a:prstGeom>
          <a:noFill/>
        </p:spPr>
        <p:txBody>
          <a:bodyPr wrap="square">
            <a:spAutoFit/>
          </a:bodyPr>
          <a:lstStyle/>
          <a:p>
            <a:r>
              <a:rPr lang="en-US" sz="2800" b="1" dirty="0">
                <a:solidFill>
                  <a:srgbClr val="114330"/>
                </a:solidFill>
                <a:latin typeface="Montserrat" pitchFamily="2" charset="77"/>
              </a:rPr>
              <a:t>To improve chances of success: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74143"/>
        </a:solidFill>
        <a:effectLst/>
      </p:bgPr>
    </p:bg>
    <p:spTree>
      <p:nvGrpSpPr>
        <p:cNvPr id="1" name=""/>
        <p:cNvGrpSpPr/>
        <p:nvPr/>
      </p:nvGrpSpPr>
      <p:grpSpPr>
        <a:xfrm>
          <a:off x="0" y="0"/>
          <a:ext cx="0" cy="0"/>
          <a:chOff x="0" y="0"/>
          <a:chExt cx="0" cy="0"/>
        </a:xfrm>
      </p:grpSpPr>
      <p:sp>
        <p:nvSpPr>
          <p:cNvPr id="3" name="TextBox 3"/>
          <p:cNvSpPr txBox="1"/>
          <p:nvPr/>
        </p:nvSpPr>
        <p:spPr>
          <a:xfrm>
            <a:off x="3581808" y="4539431"/>
            <a:ext cx="11124383" cy="1923604"/>
          </a:xfrm>
          <a:prstGeom prst="rect">
            <a:avLst/>
          </a:prstGeom>
        </p:spPr>
        <p:txBody>
          <a:bodyPr lIns="0" tIns="0" rIns="0" bIns="0" rtlCol="0" anchor="t">
            <a:spAutoFit/>
          </a:bodyPr>
          <a:lstStyle/>
          <a:p>
            <a:r>
              <a:rPr lang="en-US" sz="2500" b="1" dirty="0">
                <a:solidFill>
                  <a:srgbClr val="F5E5E1"/>
                </a:solidFill>
                <a:latin typeface="Montserrat" pitchFamily="2" charset="77"/>
              </a:rPr>
              <a:t>In summary, Kickstarter success depends heavily on category, timing, and setting a reasonable goal.</a:t>
            </a:r>
          </a:p>
          <a:p>
            <a:endParaRPr lang="en-US" sz="2500" b="1" dirty="0">
              <a:solidFill>
                <a:srgbClr val="F5E5E1"/>
              </a:solidFill>
              <a:latin typeface="Montserrat" pitchFamily="2" charset="77"/>
            </a:endParaRPr>
          </a:p>
          <a:p>
            <a:r>
              <a:rPr lang="en-US" sz="2500" b="1" dirty="0">
                <a:solidFill>
                  <a:srgbClr val="F5E5E1"/>
                </a:solidFill>
                <a:latin typeface="Montserrat" pitchFamily="2" charset="77"/>
              </a:rPr>
              <a:t>These insights help creators launch more strategic projects and increase their chances of success.”</a:t>
            </a:r>
          </a:p>
        </p:txBody>
      </p:sp>
      <p:sp>
        <p:nvSpPr>
          <p:cNvPr id="4" name="Freeform 4"/>
          <p:cNvSpPr/>
          <p:nvPr/>
        </p:nvSpPr>
        <p:spPr>
          <a:xfrm rot="405012">
            <a:off x="-4924453" y="4228012"/>
            <a:ext cx="8479022" cy="8479022"/>
          </a:xfrm>
          <a:custGeom>
            <a:avLst/>
            <a:gdLst/>
            <a:ahLst/>
            <a:cxnLst/>
            <a:rect l="l" t="t" r="r" b="b"/>
            <a:pathLst>
              <a:path w="8479022" h="8479022">
                <a:moveTo>
                  <a:pt x="0" y="0"/>
                </a:moveTo>
                <a:lnTo>
                  <a:pt x="8479021" y="0"/>
                </a:lnTo>
                <a:lnTo>
                  <a:pt x="8479021" y="8479021"/>
                </a:lnTo>
                <a:lnTo>
                  <a:pt x="0" y="84790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608242">
            <a:off x="15337766" y="1366802"/>
            <a:ext cx="6113463" cy="6113463"/>
          </a:xfrm>
          <a:custGeom>
            <a:avLst/>
            <a:gdLst/>
            <a:ahLst/>
            <a:cxnLst/>
            <a:rect l="l" t="t" r="r" b="b"/>
            <a:pathLst>
              <a:path w="6113463" h="6113463">
                <a:moveTo>
                  <a:pt x="0" y="0"/>
                </a:moveTo>
                <a:lnTo>
                  <a:pt x="6113463" y="0"/>
                </a:lnTo>
                <a:lnTo>
                  <a:pt x="6113463" y="6113463"/>
                </a:lnTo>
                <a:lnTo>
                  <a:pt x="0" y="61134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4776683" y="2676642"/>
            <a:ext cx="8734634" cy="819023"/>
          </a:xfrm>
          <a:prstGeom prst="rect">
            <a:avLst/>
          </a:prstGeom>
        </p:spPr>
        <p:txBody>
          <a:bodyPr lIns="0" tIns="0" rIns="0" bIns="0" rtlCol="0" anchor="t">
            <a:spAutoFit/>
          </a:bodyPr>
          <a:lstStyle/>
          <a:p>
            <a:pPr algn="ctr">
              <a:lnSpc>
                <a:spcPts val="6496"/>
              </a:lnSpc>
            </a:pPr>
            <a:r>
              <a:rPr lang="en-US" sz="5600" b="1">
                <a:solidFill>
                  <a:srgbClr val="F5E5E1"/>
                </a:solidFill>
                <a:latin typeface="Montserrat Bold"/>
                <a:ea typeface="Montserrat Bold"/>
                <a:cs typeface="Montserrat Bold"/>
                <a:sym typeface="Montserrat Bold"/>
              </a:rPr>
              <a:t>CONCLUSION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4143"/>
        </a:solidFill>
        <a:effectLst/>
      </p:bgPr>
    </p:bg>
    <p:spTree>
      <p:nvGrpSpPr>
        <p:cNvPr id="1" name=""/>
        <p:cNvGrpSpPr/>
        <p:nvPr/>
      </p:nvGrpSpPr>
      <p:grpSpPr>
        <a:xfrm>
          <a:off x="0" y="0"/>
          <a:ext cx="0" cy="0"/>
          <a:chOff x="0" y="0"/>
          <a:chExt cx="0" cy="0"/>
        </a:xfrm>
      </p:grpSpPr>
      <p:sp>
        <p:nvSpPr>
          <p:cNvPr id="2" name="Freeform 2"/>
          <p:cNvSpPr/>
          <p:nvPr/>
        </p:nvSpPr>
        <p:spPr>
          <a:xfrm flipV="1">
            <a:off x="-2489528" y="-777856"/>
            <a:ext cx="8389173" cy="11064856"/>
          </a:xfrm>
          <a:custGeom>
            <a:avLst/>
            <a:gdLst/>
            <a:ahLst/>
            <a:cxnLst/>
            <a:rect l="l" t="t" r="r" b="b"/>
            <a:pathLst>
              <a:path w="8389173" h="11064856">
                <a:moveTo>
                  <a:pt x="0" y="11064856"/>
                </a:moveTo>
                <a:lnTo>
                  <a:pt x="8389173" y="11064856"/>
                </a:lnTo>
                <a:lnTo>
                  <a:pt x="8389173" y="0"/>
                </a:lnTo>
                <a:lnTo>
                  <a:pt x="0" y="0"/>
                </a:lnTo>
                <a:lnTo>
                  <a:pt x="0" y="11064856"/>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2388356" y="-777856"/>
            <a:ext cx="8389173" cy="11064856"/>
          </a:xfrm>
          <a:custGeom>
            <a:avLst/>
            <a:gdLst/>
            <a:ahLst/>
            <a:cxnLst/>
            <a:rect l="l" t="t" r="r" b="b"/>
            <a:pathLst>
              <a:path w="8389173" h="11064856">
                <a:moveTo>
                  <a:pt x="0" y="0"/>
                </a:moveTo>
                <a:lnTo>
                  <a:pt x="8389173" y="0"/>
                </a:lnTo>
                <a:lnTo>
                  <a:pt x="8389173" y="11064856"/>
                </a:lnTo>
                <a:lnTo>
                  <a:pt x="0" y="110648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3787284" y="2741898"/>
            <a:ext cx="10713431" cy="2538568"/>
          </a:xfrm>
          <a:prstGeom prst="rect">
            <a:avLst/>
          </a:prstGeom>
        </p:spPr>
        <p:txBody>
          <a:bodyPr lIns="0" tIns="0" rIns="0" bIns="0" rtlCol="0" anchor="t">
            <a:spAutoFit/>
          </a:bodyPr>
          <a:lstStyle/>
          <a:p>
            <a:pPr algn="ctr">
              <a:lnSpc>
                <a:spcPts val="20795"/>
              </a:lnSpc>
              <a:spcBef>
                <a:spcPct val="0"/>
              </a:spcBef>
            </a:pPr>
            <a:r>
              <a:rPr lang="en-US" sz="14853" b="1">
                <a:solidFill>
                  <a:srgbClr val="F5E5E1"/>
                </a:solidFill>
                <a:latin typeface="Montserrat Bold"/>
                <a:ea typeface="Montserrat Bold"/>
                <a:cs typeface="Montserrat Bold"/>
                <a:sym typeface="Montserrat Bold"/>
              </a:rPr>
              <a:t>THANK</a:t>
            </a:r>
          </a:p>
        </p:txBody>
      </p:sp>
      <p:sp>
        <p:nvSpPr>
          <p:cNvPr id="6" name="TextBox 6"/>
          <p:cNvSpPr txBox="1"/>
          <p:nvPr/>
        </p:nvSpPr>
        <p:spPr>
          <a:xfrm>
            <a:off x="3787284" y="4735413"/>
            <a:ext cx="10713431" cy="2538568"/>
          </a:xfrm>
          <a:prstGeom prst="rect">
            <a:avLst/>
          </a:prstGeom>
        </p:spPr>
        <p:txBody>
          <a:bodyPr lIns="0" tIns="0" rIns="0" bIns="0" rtlCol="0" anchor="t">
            <a:spAutoFit/>
          </a:bodyPr>
          <a:lstStyle/>
          <a:p>
            <a:pPr algn="ctr">
              <a:lnSpc>
                <a:spcPts val="20795"/>
              </a:lnSpc>
              <a:spcBef>
                <a:spcPct val="0"/>
              </a:spcBef>
            </a:pPr>
            <a:r>
              <a:rPr lang="en-US" sz="14853" b="1">
                <a:solidFill>
                  <a:srgbClr val="F5E5E1"/>
                </a:solidFill>
                <a:latin typeface="Montserrat Bold"/>
                <a:ea typeface="Montserrat Bold"/>
                <a:cs typeface="Montserrat Bold"/>
                <a:sym typeface="Montserrat Bold"/>
              </a:rPr>
              <a:t>YOU</a:t>
            </a:r>
          </a:p>
        </p:txBody>
      </p:sp>
      <p:sp>
        <p:nvSpPr>
          <p:cNvPr id="8" name="TextBox 8"/>
          <p:cNvSpPr txBox="1"/>
          <p:nvPr/>
        </p:nvSpPr>
        <p:spPr>
          <a:xfrm>
            <a:off x="12349536" y="981075"/>
            <a:ext cx="4909764" cy="389255"/>
          </a:xfrm>
          <a:prstGeom prst="rect">
            <a:avLst/>
          </a:prstGeom>
        </p:spPr>
        <p:txBody>
          <a:bodyPr lIns="0" tIns="0" rIns="0" bIns="0" rtlCol="0" anchor="t">
            <a:spAutoFit/>
          </a:bodyPr>
          <a:lstStyle/>
          <a:p>
            <a:pPr algn="r">
              <a:lnSpc>
                <a:spcPts val="3220"/>
              </a:lnSpc>
              <a:spcBef>
                <a:spcPct val="0"/>
              </a:spcBef>
            </a:pPr>
            <a:r>
              <a:rPr lang="en-US" sz="2300">
                <a:solidFill>
                  <a:srgbClr val="F5E5E1"/>
                </a:solidFill>
                <a:latin typeface="Montserrat"/>
                <a:ea typeface="Montserrat"/>
                <a:cs typeface="Montserrat"/>
                <a:sym typeface="Montserrat"/>
              </a:rPr>
              <a:t>Presented By :</a:t>
            </a:r>
          </a:p>
        </p:txBody>
      </p:sp>
      <p:sp>
        <p:nvSpPr>
          <p:cNvPr id="9" name="TextBox 9"/>
          <p:cNvSpPr txBox="1"/>
          <p:nvPr/>
        </p:nvSpPr>
        <p:spPr>
          <a:xfrm>
            <a:off x="12349536" y="1472345"/>
            <a:ext cx="4909764" cy="1425647"/>
          </a:xfrm>
          <a:prstGeom prst="rect">
            <a:avLst/>
          </a:prstGeom>
        </p:spPr>
        <p:txBody>
          <a:bodyPr lIns="0" tIns="0" rIns="0" bIns="0" rtlCol="0" anchor="t">
            <a:spAutoFit/>
          </a:bodyPr>
          <a:lstStyle/>
          <a:p>
            <a:pPr algn="r">
              <a:lnSpc>
                <a:spcPts val="3779"/>
              </a:lnSpc>
              <a:spcBef>
                <a:spcPct val="0"/>
              </a:spcBef>
            </a:pPr>
            <a:r>
              <a:rPr lang="en-US" sz="2699" b="1" dirty="0">
                <a:solidFill>
                  <a:srgbClr val="F5E5E1"/>
                </a:solidFill>
                <a:latin typeface="Montserrat Semi-Bold"/>
                <a:ea typeface="Montserrat Semi-Bold"/>
                <a:cs typeface="Montserrat Semi-Bold"/>
                <a:sym typeface="Montserrat Semi-Bold"/>
              </a:rPr>
              <a:t>Emna Zayani</a:t>
            </a:r>
          </a:p>
          <a:p>
            <a:pPr algn="r">
              <a:lnSpc>
                <a:spcPts val="3779"/>
              </a:lnSpc>
              <a:spcBef>
                <a:spcPct val="0"/>
              </a:spcBef>
            </a:pPr>
            <a:r>
              <a:rPr lang="en-US" sz="2699" b="1" dirty="0">
                <a:solidFill>
                  <a:srgbClr val="F5E5E1"/>
                </a:solidFill>
                <a:latin typeface="Montserrat Semi-Bold"/>
                <a:ea typeface="Montserrat Semi-Bold"/>
                <a:cs typeface="Montserrat Semi-Bold"/>
                <a:sym typeface="Montserrat Semi-Bold"/>
              </a:rPr>
              <a:t>Timothy Ajayi</a:t>
            </a:r>
          </a:p>
          <a:p>
            <a:pPr algn="r">
              <a:lnSpc>
                <a:spcPts val="3779"/>
              </a:lnSpc>
              <a:spcBef>
                <a:spcPct val="0"/>
              </a:spcBef>
            </a:pPr>
            <a:r>
              <a:rPr lang="en-US" sz="2699" b="1" dirty="0">
                <a:solidFill>
                  <a:srgbClr val="F5E5E1"/>
                </a:solidFill>
                <a:latin typeface="Montserrat Semi-Bold"/>
                <a:ea typeface="Montserrat Semi-Bold"/>
                <a:cs typeface="Montserrat Semi-Bold"/>
                <a:sym typeface="Montserrat Semi-Bold"/>
              </a:rPr>
              <a:t>Viktor Yudin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3044</TotalTime>
  <Words>451</Words>
  <Application>Microsoft Macintosh PowerPoint</Application>
  <PresentationFormat>Custom</PresentationFormat>
  <Paragraphs>54</Paragraphs>
  <Slides>14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Montserrat Semi-Bold</vt:lpstr>
      <vt:lpstr>Aptos</vt:lpstr>
      <vt:lpstr>Calibri</vt:lpstr>
      <vt:lpstr>Montserrat</vt:lpstr>
      <vt:lpstr>Montserrat Medium</vt:lpstr>
      <vt:lpstr>Montserrat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Teal and White Abstract Geometric Business Webinar Presentation</dc:title>
  <cp:lastModifiedBy>Sina Fischer</cp:lastModifiedBy>
  <cp:revision>4</cp:revision>
  <dcterms:created xsi:type="dcterms:W3CDTF">2006-08-16T00:00:00Z</dcterms:created>
  <dcterms:modified xsi:type="dcterms:W3CDTF">2026-02-01T12:52:44Z</dcterms:modified>
  <dc:identifier>DAG_4q6pR58</dc:identifier>
</cp:coreProperties>
</file>